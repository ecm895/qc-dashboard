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2.xml" ContentType="application/vnd.openxmlformats-officedocument.themeOverr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3.xml" ContentType="application/vnd.openxmlformats-officedocument.themeOverrid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4.xml" ContentType="application/vnd.openxmlformats-officedocument.themeOverr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5.xml" ContentType="application/vnd.openxmlformats-officedocument.themeOverride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6.xml" ContentType="application/vnd.openxmlformats-officedocument.themeOverride+xml"/>
  <Override PartName="/ppt/notesSlides/notesSlide17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8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7.xml" ContentType="application/vnd.openxmlformats-officedocument.themeOverride+xml"/>
  <Override PartName="/ppt/notesSlides/notesSlide19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8.xml" ContentType="application/vnd.openxmlformats-officedocument.themeOverr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339" r:id="rId4"/>
    <p:sldId id="398" r:id="rId5"/>
    <p:sldId id="350" r:id="rId6"/>
    <p:sldId id="372" r:id="rId7"/>
    <p:sldId id="376" r:id="rId8"/>
    <p:sldId id="377" r:id="rId9"/>
    <p:sldId id="394" r:id="rId10"/>
    <p:sldId id="384" r:id="rId11"/>
    <p:sldId id="390" r:id="rId12"/>
    <p:sldId id="373" r:id="rId13"/>
    <p:sldId id="389" r:id="rId14"/>
    <p:sldId id="382" r:id="rId15"/>
    <p:sldId id="388" r:id="rId16"/>
    <p:sldId id="374" r:id="rId17"/>
    <p:sldId id="383" r:id="rId18"/>
    <p:sldId id="378" r:id="rId19"/>
    <p:sldId id="399" r:id="rId20"/>
    <p:sldId id="379" r:id="rId21"/>
    <p:sldId id="391" r:id="rId22"/>
    <p:sldId id="396" r:id="rId23"/>
    <p:sldId id="380" r:id="rId24"/>
    <p:sldId id="385" r:id="rId25"/>
    <p:sldId id="386" r:id="rId26"/>
    <p:sldId id="387" r:id="rId27"/>
    <p:sldId id="274" r:id="rId28"/>
  </p:sldIdLst>
  <p:sldSz cx="14084300" cy="7924800"/>
  <p:notesSz cx="14084300" cy="7924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nth of sep-2025" id="{74F9B9EF-1D1B-4E4B-933A-EF13127826E9}">
          <p14:sldIdLst>
            <p14:sldId id="256"/>
          </p14:sldIdLst>
        </p14:section>
        <p14:section name="Monthly report" id="{1AB3912E-A79D-47E6-AC50-29588E85AC44}">
          <p14:sldIdLst>
            <p14:sldId id="257"/>
            <p14:sldId id="339"/>
            <p14:sldId id="398"/>
            <p14:sldId id="350"/>
            <p14:sldId id="372"/>
            <p14:sldId id="376"/>
            <p14:sldId id="377"/>
            <p14:sldId id="394"/>
            <p14:sldId id="384"/>
            <p14:sldId id="390"/>
            <p14:sldId id="373"/>
            <p14:sldId id="389"/>
            <p14:sldId id="382"/>
            <p14:sldId id="388"/>
            <p14:sldId id="374"/>
            <p14:sldId id="383"/>
            <p14:sldId id="378"/>
            <p14:sldId id="399"/>
            <p14:sldId id="379"/>
            <p14:sldId id="391"/>
            <p14:sldId id="396"/>
            <p14:sldId id="380"/>
            <p14:sldId id="385"/>
            <p14:sldId id="386"/>
            <p14:sldId id="387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250"/>
    <a:srgbClr val="E46C0A"/>
    <a:srgbClr val="C17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D075E-C12A-406B-A45D-17167812540B}" v="6" dt="2026-06-17T15:26:10.6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2373" autoAdjust="0"/>
  </p:normalViewPr>
  <p:slideViewPr>
    <p:cSldViewPr>
      <p:cViewPr varScale="1">
        <p:scale>
          <a:sx n="83" d="100"/>
          <a:sy n="83" d="100"/>
        </p:scale>
        <p:origin x="126" y="4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 Ullah Khan" userId="ec7c6069-5f1a-4472-b159-3c7b03ce97dc" providerId="ADAL" clId="{99B72E14-A524-4F7B-B7CA-9B142F58FF45}"/>
    <pc:docChg chg="undo redo custSel modSld">
      <pc:chgData name="Sana Ullah Khan" userId="ec7c6069-5f1a-4472-b159-3c7b03ce97dc" providerId="ADAL" clId="{99B72E14-A524-4F7B-B7CA-9B142F58FF45}" dt="2026-06-17T15:26:17.178" v="2781" actId="1076"/>
      <pc:docMkLst>
        <pc:docMk/>
      </pc:docMkLst>
      <pc:sldChg chg="modSp mod">
        <pc:chgData name="Sana Ullah Khan" userId="ec7c6069-5f1a-4472-b159-3c7b03ce97dc" providerId="ADAL" clId="{99B72E14-A524-4F7B-B7CA-9B142F58FF45}" dt="2026-06-17T14:51:02.288" v="2745" actId="20577"/>
        <pc:sldMkLst>
          <pc:docMk/>
          <pc:sldMk cId="0" sldId="256"/>
        </pc:sldMkLst>
        <pc:spChg chg="mod">
          <ac:chgData name="Sana Ullah Khan" userId="ec7c6069-5f1a-4472-b159-3c7b03ce97dc" providerId="ADAL" clId="{99B72E14-A524-4F7B-B7CA-9B142F58FF45}" dt="2026-06-17T14:51:02.288" v="2745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Sana Ullah Khan" userId="ec7c6069-5f1a-4472-b159-3c7b03ce97dc" providerId="ADAL" clId="{99B72E14-A524-4F7B-B7CA-9B142F58FF45}" dt="2026-06-17T14:52:15.557" v="2753" actId="20577"/>
        <pc:sldMkLst>
          <pc:docMk/>
          <pc:sldMk cId="2618983424" sldId="339"/>
        </pc:sldMkLst>
        <pc:graphicFrameChg chg="modGraphic">
          <ac:chgData name="Sana Ullah Khan" userId="ec7c6069-5f1a-4472-b159-3c7b03ce97dc" providerId="ADAL" clId="{99B72E14-A524-4F7B-B7CA-9B142F58FF45}" dt="2026-06-17T14:52:15.557" v="2753" actId="20577"/>
          <ac:graphicFrameMkLst>
            <pc:docMk/>
            <pc:sldMk cId="2618983424" sldId="339"/>
            <ac:graphicFrameMk id="3" creationId="{02C40E25-AA60-6F73-BBAD-6F6D14BBDFA9}"/>
          </ac:graphicFrameMkLst>
        </pc:graphicFrameChg>
        <pc:graphicFrameChg chg="mod modGraphic">
          <ac:chgData name="Sana Ullah Khan" userId="ec7c6069-5f1a-4472-b159-3c7b03ce97dc" providerId="ADAL" clId="{99B72E14-A524-4F7B-B7CA-9B142F58FF45}" dt="2026-06-17T14:52:05.345" v="2749" actId="207"/>
          <ac:graphicFrameMkLst>
            <pc:docMk/>
            <pc:sldMk cId="2618983424" sldId="339"/>
            <ac:graphicFrameMk id="4" creationId="{5B5A7C5B-AF7D-2B86-13F8-44C821F29AE1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6-17T15:26:17.178" v="2781" actId="1076"/>
        <pc:sldMkLst>
          <pc:docMk/>
          <pc:sldMk cId="258814538" sldId="350"/>
        </pc:sldMkLst>
        <pc:graphicFrameChg chg="add mod">
          <ac:chgData name="Sana Ullah Khan" userId="ec7c6069-5f1a-4472-b159-3c7b03ce97dc" providerId="ADAL" clId="{99B72E14-A524-4F7B-B7CA-9B142F58FF45}" dt="2026-06-17T15:26:17.178" v="2781" actId="1076"/>
          <ac:graphicFrameMkLst>
            <pc:docMk/>
            <pc:sldMk cId="258814538" sldId="350"/>
            <ac:graphicFrameMk id="2" creationId="{BF226F18-504F-4D6B-822F-4E441A53CA50}"/>
          </ac:graphicFrameMkLst>
        </pc:graphicFrameChg>
        <pc:graphicFrameChg chg="mod modGraphic">
          <ac:chgData name="Sana Ullah Khan" userId="ec7c6069-5f1a-4472-b159-3c7b03ce97dc" providerId="ADAL" clId="{99B72E14-A524-4F7B-B7CA-9B142F58FF45}" dt="2026-06-17T15:24:47.198" v="2774" actId="20577"/>
          <ac:graphicFrameMkLst>
            <pc:docMk/>
            <pc:sldMk cId="258814538" sldId="350"/>
            <ac:graphicFrameMk id="4" creationId="{E2538553-B781-ADF2-1771-775C28046C76}"/>
          </ac:graphicFrameMkLst>
        </pc:graphicFrameChg>
        <pc:graphicFrameChg chg="del">
          <ac:chgData name="Sana Ullah Khan" userId="ec7c6069-5f1a-4472-b159-3c7b03ce97dc" providerId="ADAL" clId="{99B72E14-A524-4F7B-B7CA-9B142F58FF45}" dt="2026-06-17T15:26:10.236" v="2775" actId="478"/>
          <ac:graphicFrameMkLst>
            <pc:docMk/>
            <pc:sldMk cId="258814538" sldId="350"/>
            <ac:graphicFrameMk id="6" creationId="{BF226F18-504F-4D6B-822F-4E441A53CA50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41:20.653" v="2298" actId="20577"/>
        <pc:sldMkLst>
          <pc:docMk/>
          <pc:sldMk cId="2466760993" sldId="372"/>
        </pc:sldMkLst>
        <pc:graphicFrameChg chg="mod modGraphic">
          <ac:chgData name="Sana Ullah Khan" userId="ec7c6069-5f1a-4472-b159-3c7b03ce97dc" providerId="ADAL" clId="{99B72E14-A524-4F7B-B7CA-9B142F58FF45}" dt="2026-05-20T14:41:20.653" v="2298" actId="20577"/>
          <ac:graphicFrameMkLst>
            <pc:docMk/>
            <pc:sldMk cId="2466760993" sldId="372"/>
            <ac:graphicFrameMk id="3" creationId="{825232F9-92C4-7C12-DA8F-2E19A4C1CB70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5:03:02.193" v="2490" actId="1076"/>
        <pc:sldMkLst>
          <pc:docMk/>
          <pc:sldMk cId="4218525831" sldId="373"/>
        </pc:sldMkLst>
        <pc:graphicFrameChg chg="mod modGraphic">
          <ac:chgData name="Sana Ullah Khan" userId="ec7c6069-5f1a-4472-b159-3c7b03ce97dc" providerId="ADAL" clId="{99B72E14-A524-4F7B-B7CA-9B142F58FF45}" dt="2026-05-20T15:02:32.414" v="2485" actId="20577"/>
          <ac:graphicFrameMkLst>
            <pc:docMk/>
            <pc:sldMk cId="4218525831" sldId="373"/>
            <ac:graphicFrameMk id="4" creationId="{47F6930C-5ED6-A8DB-4BD1-2FF0E7B37F85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5:14:34.648" v="2608" actId="1076"/>
        <pc:sldMkLst>
          <pc:docMk/>
          <pc:sldMk cId="1972283352" sldId="374"/>
        </pc:sldMkLst>
        <pc:graphicFrameChg chg="mod modGraphic">
          <ac:chgData name="Sana Ullah Khan" userId="ec7c6069-5f1a-4472-b159-3c7b03ce97dc" providerId="ADAL" clId="{99B72E14-A524-4F7B-B7CA-9B142F58FF45}" dt="2026-05-20T15:14:01.008" v="2603" actId="20577"/>
          <ac:graphicFrameMkLst>
            <pc:docMk/>
            <pc:sldMk cId="1972283352" sldId="374"/>
            <ac:graphicFrameMk id="4" creationId="{0A7DD26B-2F0E-49E1-6FAF-7B5E8EECBCEC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47:23.354" v="2340" actId="20577"/>
        <pc:sldMkLst>
          <pc:docMk/>
          <pc:sldMk cId="3030120013" sldId="376"/>
        </pc:sldMkLst>
        <pc:graphicFrameChg chg="mod modGraphic">
          <ac:chgData name="Sana Ullah Khan" userId="ec7c6069-5f1a-4472-b159-3c7b03ce97dc" providerId="ADAL" clId="{99B72E14-A524-4F7B-B7CA-9B142F58FF45}" dt="2026-05-20T14:47:23.354" v="2340" actId="20577"/>
          <ac:graphicFrameMkLst>
            <pc:docMk/>
            <pc:sldMk cId="3030120013" sldId="376"/>
            <ac:graphicFrameMk id="4" creationId="{4CEB86B8-186E-CF13-7225-058EC5BF4C4F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51:50.470" v="2365" actId="1076"/>
        <pc:sldMkLst>
          <pc:docMk/>
          <pc:sldMk cId="4011235979" sldId="377"/>
        </pc:sldMkLst>
        <pc:graphicFrameChg chg="mod modGraphic">
          <ac:chgData name="Sana Ullah Khan" userId="ec7c6069-5f1a-4472-b159-3c7b03ce97dc" providerId="ADAL" clId="{99B72E14-A524-4F7B-B7CA-9B142F58FF45}" dt="2026-05-20T14:50:45.008" v="2360" actId="20577"/>
          <ac:graphicFrameMkLst>
            <pc:docMk/>
            <pc:sldMk cId="4011235979" sldId="377"/>
            <ac:graphicFrameMk id="4" creationId="{6C00D8B0-AE14-C1BE-73FE-D8B605429E5C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5:09:40.756" v="2553" actId="1076"/>
        <pc:sldMkLst>
          <pc:docMk/>
          <pc:sldMk cId="1301725380" sldId="382"/>
        </pc:sldMkLst>
        <pc:graphicFrameChg chg="mod modGraphic">
          <ac:chgData name="Sana Ullah Khan" userId="ec7c6069-5f1a-4472-b159-3c7b03ce97dc" providerId="ADAL" clId="{99B72E14-A524-4F7B-B7CA-9B142F58FF45}" dt="2026-05-20T15:09:19.318" v="2548" actId="20577"/>
          <ac:graphicFrameMkLst>
            <pc:docMk/>
            <pc:sldMk cId="1301725380" sldId="382"/>
            <ac:graphicFrameMk id="2" creationId="{899CA367-80DC-163C-8D97-3AC6063FC4AD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5:21:53.474" v="2738" actId="1076"/>
        <pc:sldMkLst>
          <pc:docMk/>
          <pc:sldMk cId="3858445169" sldId="383"/>
        </pc:sldMkLst>
        <pc:graphicFrameChg chg="mod modGraphic">
          <ac:chgData name="Sana Ullah Khan" userId="ec7c6069-5f1a-4472-b159-3c7b03ce97dc" providerId="ADAL" clId="{99B72E14-A524-4F7B-B7CA-9B142F58FF45}" dt="2026-05-20T15:18:03.352" v="2666" actId="20577"/>
          <ac:graphicFrameMkLst>
            <pc:docMk/>
            <pc:sldMk cId="3858445169" sldId="383"/>
            <ac:graphicFrameMk id="3" creationId="{45DC4F2D-0246-8555-2122-0428CD44DA29}"/>
          </ac:graphicFrameMkLst>
        </pc:graphicFrameChg>
        <pc:graphicFrameChg chg="add mod modGraphic">
          <ac:chgData name="Sana Ullah Khan" userId="ec7c6069-5f1a-4472-b159-3c7b03ce97dc" providerId="ADAL" clId="{99B72E14-A524-4F7B-B7CA-9B142F58FF45}" dt="2026-05-20T15:20:30.245" v="2701" actId="14734"/>
          <ac:graphicFrameMkLst>
            <pc:docMk/>
            <pc:sldMk cId="3858445169" sldId="383"/>
            <ac:graphicFrameMk id="5" creationId="{7F62CF95-7541-D315-5307-7E4626BB0F67}"/>
          </ac:graphicFrameMkLst>
        </pc:graphicFrameChg>
        <pc:graphicFrameChg chg="add mod modGraphic">
          <ac:chgData name="Sana Ullah Khan" userId="ec7c6069-5f1a-4472-b159-3c7b03ce97dc" providerId="ADAL" clId="{99B72E14-A524-4F7B-B7CA-9B142F58FF45}" dt="2026-05-20T15:21:53.474" v="2738" actId="1076"/>
          <ac:graphicFrameMkLst>
            <pc:docMk/>
            <pc:sldMk cId="3858445169" sldId="383"/>
            <ac:graphicFrameMk id="6" creationId="{9F31EDD0-0EEA-206E-8C55-A37FB3A412F5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54:34.489" v="2410" actId="20577"/>
        <pc:sldMkLst>
          <pc:docMk/>
          <pc:sldMk cId="249144978" sldId="384"/>
        </pc:sldMkLst>
        <pc:graphicFrameChg chg="mod modGraphic">
          <ac:chgData name="Sana Ullah Khan" userId="ec7c6069-5f1a-4472-b159-3c7b03ce97dc" providerId="ADAL" clId="{99B72E14-A524-4F7B-B7CA-9B142F58FF45}" dt="2026-05-20T14:54:34.489" v="2410" actId="20577"/>
          <ac:graphicFrameMkLst>
            <pc:docMk/>
            <pc:sldMk cId="249144978" sldId="384"/>
            <ac:graphicFrameMk id="2" creationId="{CFBA2AF6-12D3-A68B-4102-9E0DD67FCD6C}"/>
          </ac:graphicFrameMkLst>
        </pc:graphicFrameChg>
      </pc:sldChg>
      <pc:sldChg chg="modSp mod">
        <pc:chgData name="Sana Ullah Khan" userId="ec7c6069-5f1a-4472-b159-3c7b03ce97dc" providerId="ADAL" clId="{99B72E14-A524-4F7B-B7CA-9B142F58FF45}" dt="2026-05-20T15:23:58.923" v="2741"/>
        <pc:sldMkLst>
          <pc:docMk/>
          <pc:sldMk cId="375098160" sldId="386"/>
        </pc:sldMkLst>
        <pc:graphicFrameChg chg="mod modGraphic">
          <ac:chgData name="Sana Ullah Khan" userId="ec7c6069-5f1a-4472-b159-3c7b03ce97dc" providerId="ADAL" clId="{99B72E14-A524-4F7B-B7CA-9B142F58FF45}" dt="2026-05-20T15:23:58.923" v="2741"/>
          <ac:graphicFrameMkLst>
            <pc:docMk/>
            <pc:sldMk cId="375098160" sldId="386"/>
            <ac:graphicFrameMk id="2" creationId="{17CD16B2-7501-DA12-9FE6-009DBC7F2B8A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5:05:44.884" v="2514"/>
        <pc:sldMkLst>
          <pc:docMk/>
          <pc:sldMk cId="3791601447" sldId="389"/>
        </pc:sldMkLst>
        <pc:graphicFrameChg chg="mod modGraphic">
          <ac:chgData name="Sana Ullah Khan" userId="ec7c6069-5f1a-4472-b159-3c7b03ce97dc" providerId="ADAL" clId="{99B72E14-A524-4F7B-B7CA-9B142F58FF45}" dt="2026-05-20T15:05:10.237" v="2507" actId="20577"/>
          <ac:graphicFrameMkLst>
            <pc:docMk/>
            <pc:sldMk cId="3791601447" sldId="389"/>
            <ac:graphicFrameMk id="2" creationId="{391D76A3-D5FC-8D6B-1F44-E9A5F29B0449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58:57.888" v="2449"/>
        <pc:sldMkLst>
          <pc:docMk/>
          <pc:sldMk cId="459554716" sldId="390"/>
        </pc:sldMkLst>
        <pc:graphicFrameChg chg="mod modGraphic">
          <ac:chgData name="Sana Ullah Khan" userId="ec7c6069-5f1a-4472-b159-3c7b03ce97dc" providerId="ADAL" clId="{99B72E14-A524-4F7B-B7CA-9B142F58FF45}" dt="2026-05-20T14:58:08.529" v="2442" actId="20577"/>
          <ac:graphicFrameMkLst>
            <pc:docMk/>
            <pc:sldMk cId="459554716" sldId="390"/>
            <ac:graphicFrameMk id="3" creationId="{0D6D3B6F-A1A3-DC55-4D1F-CFA8D096F672}"/>
          </ac:graphicFrameMkLst>
        </pc:graphicFrameChg>
      </pc:sldChg>
      <pc:sldChg chg="addSp delSp modSp mod">
        <pc:chgData name="Sana Ullah Khan" userId="ec7c6069-5f1a-4472-b159-3c7b03ce97dc" providerId="ADAL" clId="{99B72E14-A524-4F7B-B7CA-9B142F58FF45}" dt="2026-05-20T14:54:01.433" v="2400" actId="20577"/>
        <pc:sldMkLst>
          <pc:docMk/>
          <pc:sldMk cId="819045082" sldId="39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anau\Downloads\Opera%20House-%20Work%20and%20Material%20Inspection%20status%20as%20on%2013-Dec-25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Work%20and%20Material%20Inspection%20status%20as%20on%2013-Dec-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NCR%20status%20as%20on%2013-Dec-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NCR%20status%20as%20on%2013-Dec-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NCR%20status%20as%20on%2013-Dec-2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Work%20and%20Material%20Inspection%20status%20as%20on%2013-Dec-2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sanau\Downloads\Opera%20House-%20Work%20and%20Material%20Inspection%20status%20as%20on%2013-Dec-25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sanau\Downloads\Opera%20House-%20Work%20and%20Material%20Inspection%20status%20as%20on%2013-Dec-25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sanau\Downloads\Opera%20House-%20Work%20and%20Material%20Inspection%20status%20as%20on%2013-Dec-25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Work%20and%20Material%20Inspection%20status%20as%20on%2013-Dec-25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h.saeed\Desktop\OPERA\Weekly%20Presentation\06-08-2026\Opera%20House-%20Work%20and%20Material%20Inspection%20status%20as%20on%2006th%20Aug%202026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sanau\Downloads\Opera%20House-%20Work%20and%20Material%20Inspection%20status%20as%20on%2013-Dec-25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au\Downloads\Opera%20House-%20Work%20and%20Material%20Inspection%20status%20as%20on%2013-Dec-25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C:\Users\Haroon%20Saeed\Desktop\OPERA\Weekly%20Presentation\05-03-2026\Opera%20House-%20Work%20and%20Material%20Inspection%20status%20as%20on%2025th%20Feb%202026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C:\Users\Haroon%20Saeed\Desktop\OPERA\Weekly%20Presentation\05-03-2026\Opera%20House-%20Work%20and%20Material%20Inspection%20status%20as%20on%2025th%20Feb%2020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Method Statements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Chart!$B$56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BE8-4021-A225-6894892E4F43}"/>
              </c:ext>
            </c:extLst>
          </c:dPt>
          <c:dLbls>
            <c:dLbl>
              <c:idx val="0"/>
              <c:layout>
                <c:manualLayout>
                  <c:x val="-3.346159399440796E-3"/>
                  <c:y val="-0.17470884152512761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E8-4021-A225-6894892E4F43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Chart!$B$57:$B$60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Chart!$C$56</c:f>
              <c:numCache>
                <c:formatCode>#,##0</c:formatCode>
                <c:ptCount val="1"/>
                <c:pt idx="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E8-4021-A225-6894892E4F43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3BE8-4021-A225-6894892E4F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3BE8-4021-A225-6894892E4F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3BE8-4021-A225-6894892E4F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3BE8-4021-A225-6894892E4F43}"/>
              </c:ext>
            </c:extLst>
          </c:dPt>
          <c:dLbls>
            <c:dLbl>
              <c:idx val="0"/>
              <c:layout>
                <c:manualLayout>
                  <c:x val="9.0346303784901494E-2"/>
                  <c:y val="-7.487521779648326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BE8-4021-A225-6894892E4F43}"/>
                </c:ext>
              </c:extLst>
            </c:dLbl>
            <c:dLbl>
              <c:idx val="1"/>
              <c:layout>
                <c:manualLayout>
                  <c:x val="-5.3538550391052771E-2"/>
                  <c:y val="6.489185542361873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E8-4021-A225-6894892E4F43}"/>
                </c:ext>
              </c:extLst>
            </c:dLbl>
            <c:dLbl>
              <c:idx val="2"/>
              <c:layout>
                <c:manualLayout>
                  <c:x val="-9.7038622583783124E-2"/>
                  <c:y val="1.49750435592966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E8-4021-A225-6894892E4F43}"/>
                </c:ext>
              </c:extLst>
            </c:dLbl>
            <c:dLbl>
              <c:idx val="3"/>
              <c:layout>
                <c:manualLayout>
                  <c:x val="-0.14388485417595423"/>
                  <c:y val="-5.990017423718661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BE8-4021-A225-6894892E4F43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Chart!$B$57:$B$60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Chart!$C$57:$C$60</c:f>
              <c:numCache>
                <c:formatCode>#,##0</c:formatCode>
                <c:ptCount val="4"/>
                <c:pt idx="0">
                  <c:v>26</c:v>
                </c:pt>
                <c:pt idx="1">
                  <c:v>35</c:v>
                </c:pt>
                <c:pt idx="2">
                  <c:v>20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BE8-4021-A225-6894892E4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ITPs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Chart!$B$39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FE0-4968-9BA1-33C2B72F8775}"/>
              </c:ext>
            </c:extLst>
          </c:dPt>
          <c:dLbls>
            <c:dLbl>
              <c:idx val="0"/>
              <c:layout>
                <c:manualLayout>
                  <c:x val="0"/>
                  <c:y val="-0.17970052271155984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E0-4968-9BA1-33C2B72F8775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Chart!$B$40:$B$43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Chart!$C$39</c:f>
              <c:numCache>
                <c:formatCode>#,##0</c:formatCode>
                <c:ptCount val="1"/>
                <c:pt idx="0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E0-4968-9BA1-33C2B72F8775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AFE0-4968-9BA1-33C2B72F87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AFE0-4968-9BA1-33C2B72F87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AFE0-4968-9BA1-33C2B72F87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AFE0-4968-9BA1-33C2B72F8775}"/>
              </c:ext>
            </c:extLst>
          </c:dPt>
          <c:dLbls>
            <c:dLbl>
              <c:idx val="0"/>
              <c:layout>
                <c:manualLayout>
                  <c:x val="0.14053869477651343"/>
                  <c:y val="-4.49251306778900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E0-4968-9BA1-33C2B72F8775}"/>
                </c:ext>
              </c:extLst>
            </c:dLbl>
            <c:dLbl>
              <c:idx val="1"/>
              <c:layout>
                <c:manualLayout>
                  <c:x val="-0.1104232601815463"/>
                  <c:y val="5.490849305075438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E0-4968-9BA1-33C2B72F8775}"/>
                </c:ext>
              </c:extLst>
            </c:dLbl>
            <c:dLbl>
              <c:idx val="2"/>
              <c:layout>
                <c:manualLayout>
                  <c:x val="-0.13384637597763185"/>
                  <c:y val="-1.49750435592966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FE0-4968-9BA1-33C2B72F8775}"/>
                </c:ext>
              </c:extLst>
            </c:dLbl>
            <c:dLbl>
              <c:idx val="3"/>
              <c:layout>
                <c:manualLayout>
                  <c:x val="-0.15057717297483583"/>
                  <c:y val="-9.484194254221214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FE0-4968-9BA1-33C2B72F8775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Chart!$B$40:$B$43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Chart!$C$40:$C$43</c:f>
              <c:numCache>
                <c:formatCode>#,##0</c:formatCode>
                <c:ptCount val="4"/>
                <c:pt idx="0">
                  <c:v>35</c:v>
                </c:pt>
                <c:pt idx="1">
                  <c:v>24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FE0-4968-9BA1-33C2B72F8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NCR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'NCR Summary'!$C$11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F5F-4911-B411-EC02408112AF}"/>
              </c:ext>
            </c:extLst>
          </c:dPt>
          <c:dLbls>
            <c:dLbl>
              <c:idx val="0"/>
              <c:layout>
                <c:manualLayout>
                  <c:x val="-2.9465830888868649E-3"/>
                  <c:y val="-0.20389127939023388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5F-4911-B411-EC02408112AF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Summary'!$C$12:$C$14</c:f>
              <c:strCache>
                <c:ptCount val="3"/>
                <c:pt idx="0">
                  <c:v>Closed</c:v>
                </c:pt>
                <c:pt idx="1">
                  <c:v>Open NCR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Summary'!$D$11</c:f>
              <c:numCache>
                <c:formatCode>#,##0</c:formatCode>
                <c:ptCount val="1"/>
                <c:pt idx="0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5F-4911-B411-EC02408112AF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EF5F-4911-B411-EC02408112A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EF5F-4911-B411-EC02408112A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EF5F-4911-B411-EC02408112AF}"/>
              </c:ext>
            </c:extLst>
          </c:dPt>
          <c:dLbls>
            <c:dLbl>
              <c:idx val="0"/>
              <c:layout>
                <c:manualLayout>
                  <c:x val="3.4883349934061531E-2"/>
                  <c:y val="0.13327958423096639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5F-4911-B411-EC02408112AF}"/>
                </c:ext>
              </c:extLst>
            </c:dLbl>
            <c:dLbl>
              <c:idx val="1"/>
              <c:layout>
                <c:manualLayout>
                  <c:x val="-0.12670307282213289"/>
                  <c:y val="-6.39658915734066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5F-4911-B411-EC02408112AF}"/>
                </c:ext>
              </c:extLst>
            </c:dLbl>
            <c:dLbl>
              <c:idx val="2"/>
              <c:layout>
                <c:manualLayout>
                  <c:x val="-0.13686206550009131"/>
                  <c:y val="-0.10641547822562268"/>
                </c:manualLayout>
              </c:layout>
              <c:numFmt formatCode="0" sourceLinked="0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13508054164827"/>
                      <c:h val="0.113881871360310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F5F-4911-B411-EC02408112AF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Summary'!$C$12:$C$14</c:f>
              <c:strCache>
                <c:ptCount val="3"/>
                <c:pt idx="0">
                  <c:v>Closed</c:v>
                </c:pt>
                <c:pt idx="1">
                  <c:v>Open NCR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Summary'!$D$12:$D$14</c:f>
              <c:numCache>
                <c:formatCode>#,##0</c:formatCode>
                <c:ptCount val="3"/>
                <c:pt idx="0">
                  <c:v>77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5F-4911-B411-EC02408112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SOR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'NCR Summary'!$C$29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16D-48FC-8B22-B284CE55B1FB}"/>
              </c:ext>
            </c:extLst>
          </c:dPt>
          <c:dLbls>
            <c:dLbl>
              <c:idx val="0"/>
              <c:layout>
                <c:manualLayout>
                  <c:x val="-3.1446533094009535E-3"/>
                  <c:y val="-0.2152093310849638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Total</a:t>
                    </a:r>
                    <a:r>
                      <a:rPr lang="en-US" baseline="0"/>
                      <a:t>, </a:t>
                    </a:r>
                    <a:fld id="{A7B0073E-3F37-43CB-92BA-49C27A4A777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16D-48FC-8B22-B284CE55B1FB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Summary'!$C$30:$C$32</c:f>
              <c:strCache>
                <c:ptCount val="3"/>
                <c:pt idx="0">
                  <c:v>Closed</c:v>
                </c:pt>
                <c:pt idx="1">
                  <c:v>Open SOR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Summary'!$D$29</c:f>
              <c:numCache>
                <c:formatCode>#,##0</c:formatCode>
                <c:ptCount val="1"/>
                <c:pt idx="0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6D-48FC-8B22-B284CE55B1FB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816D-48FC-8B22-B284CE55B1F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816D-48FC-8B22-B284CE55B1F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816D-48FC-8B22-B284CE55B1FB}"/>
              </c:ext>
            </c:extLst>
          </c:dPt>
          <c:dLbls>
            <c:dLbl>
              <c:idx val="0"/>
              <c:layout>
                <c:manualLayout>
                  <c:x val="7.2327026116221924E-2"/>
                  <c:y val="8.608373243398544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16D-48FC-8B22-B284CE55B1FB}"/>
                </c:ext>
              </c:extLst>
            </c:dLbl>
            <c:dLbl>
              <c:idx val="1"/>
              <c:layout>
                <c:manualLayout>
                  <c:x val="-0.13522009230424101"/>
                  <c:y val="-4.782429579665862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16D-48FC-8B22-B284CE55B1FB}"/>
                </c:ext>
              </c:extLst>
            </c:dLbl>
            <c:dLbl>
              <c:idx val="2"/>
              <c:layout>
                <c:manualLayout>
                  <c:x val="-1.8867919856405721E-2"/>
                  <c:y val="-0.1147783099119806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16D-48FC-8B22-B284CE55B1FB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Summary'!$C$30:$C$32</c:f>
              <c:strCache>
                <c:ptCount val="3"/>
                <c:pt idx="0">
                  <c:v>Closed</c:v>
                </c:pt>
                <c:pt idx="1">
                  <c:v>Open SOR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Summary'!$D$30:$D$32</c:f>
              <c:numCache>
                <c:formatCode>#,##0</c:formatCode>
                <c:ptCount val="3"/>
                <c:pt idx="0">
                  <c:v>50</c:v>
                </c:pt>
                <c:pt idx="1">
                  <c:v>20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16D-48FC-8B22-B284CE55B1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NCR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'NCR Summary'!$C$11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441-419F-BB8D-543075C78666}"/>
              </c:ext>
            </c:extLst>
          </c:dPt>
          <c:dLbls>
            <c:dLbl>
              <c:idx val="0"/>
              <c:layout>
                <c:manualLayout>
                  <c:x val="-2.9465830888868649E-3"/>
                  <c:y val="-0.20389127939023388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41-419F-BB8D-543075C78666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Summary'!$C$12:$C$14</c:f>
              <c:strCache>
                <c:ptCount val="3"/>
                <c:pt idx="0">
                  <c:v>Closed</c:v>
                </c:pt>
                <c:pt idx="1">
                  <c:v>Open NCR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Summary'!$D$11</c:f>
              <c:numCache>
                <c:formatCode>#,##0</c:formatCode>
                <c:ptCount val="1"/>
                <c:pt idx="0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41-419F-BB8D-543075C78666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D441-419F-BB8D-543075C786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D441-419F-BB8D-543075C786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D441-419F-BB8D-543075C78666}"/>
              </c:ext>
            </c:extLst>
          </c:dPt>
          <c:dLbls>
            <c:dLbl>
              <c:idx val="0"/>
              <c:layout>
                <c:manualLayout>
                  <c:x val="3.4883349934061531E-2"/>
                  <c:y val="0.13327958423096639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441-419F-BB8D-543075C78666}"/>
                </c:ext>
              </c:extLst>
            </c:dLbl>
            <c:dLbl>
              <c:idx val="1"/>
              <c:layout>
                <c:manualLayout>
                  <c:x val="-0.12670307282213289"/>
                  <c:y val="-6.39658915734066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441-419F-BB8D-543075C78666}"/>
                </c:ext>
              </c:extLst>
            </c:dLbl>
            <c:dLbl>
              <c:idx val="2"/>
              <c:layout>
                <c:manualLayout>
                  <c:x val="-0.13686206550009131"/>
                  <c:y val="-0.10641547822562268"/>
                </c:manualLayout>
              </c:layout>
              <c:numFmt formatCode="0" sourceLinked="0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13508054164827"/>
                      <c:h val="0.113881871360310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441-419F-BB8D-543075C78666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'NCR Summary'!$C$12:$C$14</c:f>
              <c:strCache>
                <c:ptCount val="3"/>
                <c:pt idx="0">
                  <c:v>Closed</c:v>
                </c:pt>
                <c:pt idx="1">
                  <c:v>Open NCR</c:v>
                </c:pt>
                <c:pt idx="2">
                  <c:v>Under Review by Engineer</c:v>
                </c:pt>
              </c:strCache>
            </c:strRef>
          </c:cat>
          <c:val>
            <c:numRef>
              <c:f>'NCR Summary'!$D$12:$D$14</c:f>
              <c:numCache>
                <c:formatCode>#,##0</c:formatCode>
                <c:ptCount val="3"/>
                <c:pt idx="0">
                  <c:v>77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441-419F-BB8D-543075C786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 Status Test Reports (Nos)</a:t>
            </a:r>
            <a:endParaRPr lang="en-US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Chart!$B$39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2EF-4A4B-A98A-551CE1B4FFA6}"/>
              </c:ext>
            </c:extLst>
          </c:dPt>
          <c:dLbls>
            <c:dLbl>
              <c:idx val="0"/>
              <c:layout>
                <c:manualLayout>
                  <c:x val="0"/>
                  <c:y val="-0.17970052271155984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EF-4A4B-A98A-551CE1B4FFA6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Chart!$B$40:$B$43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Chart!$C$39</c:f>
              <c:numCache>
                <c:formatCode>#,##0</c:formatCode>
                <c:ptCount val="1"/>
                <c:pt idx="0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EF-4A4B-A98A-551CE1B4FFA6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B2EF-4A4B-A98A-551CE1B4FFA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B2EF-4A4B-A98A-551CE1B4FFA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B2EF-4A4B-A98A-551CE1B4FFA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B2EF-4A4B-A98A-551CE1B4FFA6}"/>
              </c:ext>
            </c:extLst>
          </c:dPt>
          <c:dLbls>
            <c:dLbl>
              <c:idx val="0"/>
              <c:layout>
                <c:manualLayout>
                  <c:x val="0.14053869477651343"/>
                  <c:y val="-4.49251306778900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EF-4A4B-A98A-551CE1B4FFA6}"/>
                </c:ext>
              </c:extLst>
            </c:dLbl>
            <c:dLbl>
              <c:idx val="1"/>
              <c:layout>
                <c:manualLayout>
                  <c:x val="-0.1104232601815463"/>
                  <c:y val="5.490849305075438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2EF-4A4B-A98A-551CE1B4FFA6}"/>
                </c:ext>
              </c:extLst>
            </c:dLbl>
            <c:dLbl>
              <c:idx val="2"/>
              <c:layout>
                <c:manualLayout>
                  <c:x val="-0.13384637597763185"/>
                  <c:y val="-1.49750435592966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2EF-4A4B-A98A-551CE1B4FFA6}"/>
                </c:ext>
              </c:extLst>
            </c:dLbl>
            <c:dLbl>
              <c:idx val="3"/>
              <c:layout>
                <c:manualLayout>
                  <c:x val="-0.15057717297483583"/>
                  <c:y val="-9.484194254221214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2EF-4A4B-A98A-551CE1B4FFA6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Chart!$B$40:$B$43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Chart!$C$40:$C$43</c:f>
              <c:numCache>
                <c:formatCode>#,##0</c:formatCode>
                <c:ptCount val="4"/>
                <c:pt idx="0">
                  <c:v>35</c:v>
                </c:pt>
                <c:pt idx="1">
                  <c:v>24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2EF-4A4B-A98A-551CE1B4F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Prequalification Status (Nos)</a:t>
            </a:r>
            <a:endParaRPr lang="en-US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Chart!$B$70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2D0-40A6-A002-8BD505DA0864}"/>
              </c:ext>
            </c:extLst>
          </c:dPt>
          <c:dLbls>
            <c:dLbl>
              <c:idx val="0"/>
              <c:layout>
                <c:manualLayout>
                  <c:x val="0"/>
                  <c:y val="-0.1733541294053648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D0-40A6-A002-8BD505DA0864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Chart!$C$70</c:f>
              <c:numCache>
                <c:formatCode>#,##0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D0-40A6-A002-8BD505DA0864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72D0-40A6-A002-8BD505DA086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72D0-40A6-A002-8BD505DA086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72D0-40A6-A002-8BD505DA086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72D0-40A6-A002-8BD505DA0864}"/>
              </c:ext>
            </c:extLst>
          </c:dPt>
          <c:dLbls>
            <c:dLbl>
              <c:idx val="0"/>
              <c:layout>
                <c:manualLayout>
                  <c:x val="5.0593215409976341E-2"/>
                  <c:y val="-9.687436643240977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D0-40A6-A002-8BD505DA0864}"/>
                </c:ext>
              </c:extLst>
            </c:dLbl>
            <c:dLbl>
              <c:idx val="1"/>
              <c:layout>
                <c:manualLayout>
                  <c:x val="3.7101691300649317E-2"/>
                  <c:y val="4.078920691890927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2D0-40A6-A002-8BD505DA0864}"/>
                </c:ext>
              </c:extLst>
            </c:dLbl>
            <c:dLbl>
              <c:idx val="2"/>
              <c:layout>
                <c:manualLayout>
                  <c:x val="-5.0593215409976376E-2"/>
                  <c:y val="4.588785778377304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2D0-40A6-A002-8BD505DA0864}"/>
                </c:ext>
              </c:extLst>
            </c:dLbl>
            <c:dLbl>
              <c:idx val="3"/>
              <c:layout>
                <c:manualLayout>
                  <c:x val="-0.14503388417526555"/>
                  <c:y val="-7.647976297295509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2D0-40A6-A002-8BD505DA0864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Chart!$C$71:$C$74</c:f>
              <c:numCache>
                <c:formatCode>#,##0</c:formatCode>
                <c:ptCount val="4"/>
                <c:pt idx="0">
                  <c:v>9</c:v>
                </c:pt>
                <c:pt idx="1">
                  <c:v>38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2D0-40A6-A002-8BD505DA0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Material Submittal(Nos)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Chart!$B$70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9A3-4126-9327-F586D246D367}"/>
              </c:ext>
            </c:extLst>
          </c:dPt>
          <c:dLbls>
            <c:dLbl>
              <c:idx val="0"/>
              <c:layout>
                <c:manualLayout>
                  <c:x val="0"/>
                  <c:y val="-0.1733541294053648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A3-4126-9327-F586D246D367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Chart!$C$70</c:f>
              <c:numCache>
                <c:formatCode>#,##0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A3-4126-9327-F586D246D367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19A3-4126-9327-F586D246D36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19A3-4126-9327-F586D246D36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19A3-4126-9327-F586D246D36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19A3-4126-9327-F586D246D367}"/>
              </c:ext>
            </c:extLst>
          </c:dPt>
          <c:dLbls>
            <c:dLbl>
              <c:idx val="0"/>
              <c:layout>
                <c:manualLayout>
                  <c:x val="5.0593215409976341E-2"/>
                  <c:y val="-9.687436643240977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9A3-4126-9327-F586D246D367}"/>
                </c:ext>
              </c:extLst>
            </c:dLbl>
            <c:dLbl>
              <c:idx val="1"/>
              <c:layout>
                <c:manualLayout>
                  <c:x val="3.7101691300649317E-2"/>
                  <c:y val="4.078920691890927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9A3-4126-9327-F586D246D367}"/>
                </c:ext>
              </c:extLst>
            </c:dLbl>
            <c:dLbl>
              <c:idx val="2"/>
              <c:layout>
                <c:manualLayout>
                  <c:x val="-5.0593215409976376E-2"/>
                  <c:y val="4.588785778377304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9A3-4126-9327-F586D246D367}"/>
                </c:ext>
              </c:extLst>
            </c:dLbl>
            <c:dLbl>
              <c:idx val="3"/>
              <c:layout>
                <c:manualLayout>
                  <c:x val="-0.14503388417526555"/>
                  <c:y val="-7.647976297295509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9A3-4126-9327-F586D246D367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Chart!$C$71:$C$74</c:f>
              <c:numCache>
                <c:formatCode>#,##0</c:formatCode>
                <c:ptCount val="4"/>
                <c:pt idx="0">
                  <c:v>9</c:v>
                </c:pt>
                <c:pt idx="1">
                  <c:v>38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9A3-4126-9327-F586D246D3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 Status of Material Sample Approval (Nos)</a:t>
            </a:r>
            <a:endParaRPr lang="en-US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Chart!$B$70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912-435D-BCB6-ACDDB08A96DD}"/>
              </c:ext>
            </c:extLst>
          </c:dPt>
          <c:dLbls>
            <c:dLbl>
              <c:idx val="0"/>
              <c:layout>
                <c:manualLayout>
                  <c:x val="0"/>
                  <c:y val="-0.1733541294053648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12-435D-BCB6-ACDDB08A96DD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Chart!$C$70</c:f>
              <c:numCache>
                <c:formatCode>#,##0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12-435D-BCB6-ACDDB08A96DD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C912-435D-BCB6-ACDDB08A96D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C912-435D-BCB6-ACDDB08A96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C912-435D-BCB6-ACDDB08A96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C912-435D-BCB6-ACDDB08A96DD}"/>
              </c:ext>
            </c:extLst>
          </c:dPt>
          <c:dLbls>
            <c:dLbl>
              <c:idx val="0"/>
              <c:layout>
                <c:manualLayout>
                  <c:x val="5.0593215409976341E-2"/>
                  <c:y val="-9.687436643240977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912-435D-BCB6-ACDDB08A96DD}"/>
                </c:ext>
              </c:extLst>
            </c:dLbl>
            <c:dLbl>
              <c:idx val="1"/>
              <c:layout>
                <c:manualLayout>
                  <c:x val="3.7101691300649317E-2"/>
                  <c:y val="4.078920691890927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912-435D-BCB6-ACDDB08A96DD}"/>
                </c:ext>
              </c:extLst>
            </c:dLbl>
            <c:dLbl>
              <c:idx val="2"/>
              <c:layout>
                <c:manualLayout>
                  <c:x val="-5.0593215409976376E-2"/>
                  <c:y val="4.588785778377304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912-435D-BCB6-ACDDB08A96DD}"/>
                </c:ext>
              </c:extLst>
            </c:dLbl>
            <c:dLbl>
              <c:idx val="3"/>
              <c:layout>
                <c:manualLayout>
                  <c:x val="-0.14503388417526555"/>
                  <c:y val="-7.647976297295509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912-435D-BCB6-ACDDB08A96DD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Chart!$B$71:$B$74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Chart!$C$71:$C$74</c:f>
              <c:numCache>
                <c:formatCode>#,##0</c:formatCode>
                <c:ptCount val="4"/>
                <c:pt idx="0">
                  <c:v>9</c:v>
                </c:pt>
                <c:pt idx="1">
                  <c:v>38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912-435D-BCB6-ACDDB08A9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Material Inspection Request (Nos)</a:t>
            </a:r>
            <a:endParaRPr lang="en-US" sz="1400">
              <a:effectLst/>
            </a:endParaRPr>
          </a:p>
        </c:rich>
      </c:tx>
      <c:layout>
        <c:manualLayout>
          <c:xMode val="edge"/>
          <c:yMode val="edge"/>
          <c:x val="0.133520191305465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Chart!$B$23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7E5-4DB0-9A1B-D248DC8111EF}"/>
              </c:ext>
            </c:extLst>
          </c:dPt>
          <c:dLbls>
            <c:dLbl>
              <c:idx val="0"/>
              <c:layout>
                <c:manualLayout>
                  <c:x val="0"/>
                  <c:y val="-0.1810410035896369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E5-4DB0-9A1B-D248DC8111EF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Chart!$B$24:$B$27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Chart!$C$23</c:f>
              <c:numCache>
                <c:formatCode>#,##0</c:formatCode>
                <c:ptCount val="1"/>
                <c:pt idx="0">
                  <c:v>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E5-4DB0-9A1B-D248DC8111EF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57E5-4DB0-9A1B-D248DC8111EF}"/>
              </c:ext>
            </c:extLst>
          </c:dPt>
          <c:dPt>
            <c:idx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57E5-4DB0-9A1B-D248DC8111E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57E5-4DB0-9A1B-D248DC8111EF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57E5-4DB0-9A1B-D248DC8111EF}"/>
              </c:ext>
            </c:extLst>
          </c:dPt>
          <c:dLbls>
            <c:dLbl>
              <c:idx val="0"/>
              <c:layout>
                <c:manualLayout>
                  <c:x val="0.14290867145351896"/>
                  <c:y val="-4.270874562196155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E5-4DB0-9A1B-D248DC8111EF}"/>
                </c:ext>
              </c:extLst>
            </c:dLbl>
            <c:dLbl>
              <c:idx val="2"/>
              <c:layout>
                <c:manualLayout>
                  <c:x val="-0.24423775542789214"/>
                  <c:y val="6.433294434904350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7E5-4DB0-9A1B-D248DC8111EF}"/>
                </c:ext>
              </c:extLst>
            </c:dLbl>
            <c:dLbl>
              <c:idx val="3"/>
              <c:layout>
                <c:manualLayout>
                  <c:x val="-0.20817169012139974"/>
                  <c:y val="-0.10960238311506847"/>
                </c:manualLayout>
              </c:layout>
              <c:numFmt formatCode="0" sourceLinked="0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988435462333837"/>
                      <c:h val="0.15781219723193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57E5-4DB0-9A1B-D248DC8111EF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Chart!$B$24:$B$27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Chart!$C$24:$C$27</c:f>
              <c:numCache>
                <c:formatCode>#,##0</c:formatCode>
                <c:ptCount val="4"/>
                <c:pt idx="0">
                  <c:v>8</c:v>
                </c:pt>
                <c:pt idx="1">
                  <c:v>433</c:v>
                </c:pt>
                <c:pt idx="2">
                  <c:v>19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7E5-4DB0-9A1B-D248DC8111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RFI Status(Nos)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Chart!$A$135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4CF-40AB-8755-743BCA135B9D}"/>
              </c:ext>
            </c:extLst>
          </c:dPt>
          <c:dLbls>
            <c:dLbl>
              <c:idx val="0"/>
              <c:layout>
                <c:manualLayout>
                  <c:x val="3.3700393418923487E-3"/>
                  <c:y val="-0.19879032096228474"/>
                </c:manualLayout>
              </c:layout>
              <c:showLegendKey val="0"/>
              <c:showVal val="1"/>
              <c:showCatName val="0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CF-40AB-8755-743BCA135B9D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Chart!$A$136:$A$137</c:f>
              <c:strCache>
                <c:ptCount val="2"/>
                <c:pt idx="0">
                  <c:v>RELPY RECD </c:v>
                </c:pt>
                <c:pt idx="1">
                  <c:v>REPLY NOT RECD</c:v>
                </c:pt>
              </c:strCache>
            </c:strRef>
          </c:cat>
          <c:val>
            <c:numRef>
              <c:f>Chart!$B$135</c:f>
              <c:numCache>
                <c:formatCode>General</c:formatCode>
                <c:ptCount val="1"/>
                <c:pt idx="0">
                  <c:v>1219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CF-40AB-8755-743BCA135B9D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E4CF-40AB-8755-743BCA135B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E4CF-40AB-8755-743BCA135B9D}"/>
              </c:ext>
            </c:extLst>
          </c:dPt>
          <c:dLbls>
            <c:dLbl>
              <c:idx val="0"/>
              <c:layout>
                <c:manualLayout>
                  <c:x val="0.1516517703851557"/>
                  <c:y val="3.5680314018871541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4CF-40AB-8755-743BCA135B9D}"/>
                </c:ext>
              </c:extLst>
            </c:dLbl>
            <c:dLbl>
              <c:idx val="1"/>
              <c:layout>
                <c:manualLayout>
                  <c:x val="-0.20220236051354093"/>
                  <c:y val="-4.587468945283496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CF-40AB-8755-743BCA135B9D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Chart!$A$136:$A$137</c:f>
              <c:strCache>
                <c:ptCount val="2"/>
                <c:pt idx="0">
                  <c:v>RELPY RECD </c:v>
                </c:pt>
                <c:pt idx="1">
                  <c:v>REPLY NOT RECD</c:v>
                </c:pt>
              </c:strCache>
            </c:strRef>
          </c:cat>
          <c:val>
            <c:numRef>
              <c:f>Chart!$B$136:$B$137</c:f>
              <c:numCache>
                <c:formatCode>0</c:formatCode>
                <c:ptCount val="2"/>
                <c:pt idx="0">
                  <c:v>1185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4CF-40AB-8755-743BCA135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</a:t>
            </a:r>
            <a:r>
              <a:rPr lang="en-US" sz="1400" b="1" i="0" u="none" strike="noStrike" baseline="0">
                <a:effectLst/>
              </a:rPr>
              <a:t>Status of Shop Drawings (Nos)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55998890896852"/>
          <c:y val="0.2682349114201294"/>
          <c:w val="0.53201256171396394"/>
          <c:h val="0.64924625117784873"/>
        </c:manualLayout>
      </c:layout>
      <c:doughnutChart>
        <c:varyColors val="1"/>
        <c:ser>
          <c:idx val="0"/>
          <c:order val="0"/>
          <c:tx>
            <c:strRef>
              <c:f>Chart!$B$87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93D-40D5-B6FD-7C67F95D97EF}"/>
              </c:ext>
            </c:extLst>
          </c:dPt>
          <c:dLbls>
            <c:dLbl>
              <c:idx val="0"/>
              <c:layout>
                <c:manualLayout>
                  <c:x val="-3.3728810273318181E-3"/>
                  <c:y val="-0.18326522349979665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3D-40D5-B6FD-7C67F95D97EF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Chart!$B$88:$B$91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Chart!$C$87</c:f>
              <c:numCache>
                <c:formatCode>#,##0</c:formatCode>
                <c:ptCount val="1"/>
                <c:pt idx="0">
                  <c:v>9151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3D-40D5-B6FD-7C67F95D97EF}"/>
            </c:ext>
          </c:extLst>
        </c:ser>
        <c:ser>
          <c:idx val="1"/>
          <c:order val="1"/>
          <c:tx>
            <c:v>Status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D93D-40D5-B6FD-7C67F95D97E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D93D-40D5-B6FD-7C67F95D97E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D93D-40D5-B6FD-7C67F95D97E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D93D-40D5-B6FD-7C67F95D97EF}"/>
              </c:ext>
            </c:extLst>
          </c:dPt>
          <c:dLbls>
            <c:dLbl>
              <c:idx val="0"/>
              <c:layout>
                <c:manualLayout>
                  <c:x val="0.10455931184728444"/>
                  <c:y val="-4.5816305874949143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93D-40D5-B6FD-7C67F95D97EF}"/>
                </c:ext>
              </c:extLst>
            </c:dLbl>
            <c:dLbl>
              <c:idx val="1"/>
              <c:layout>
                <c:manualLayout>
                  <c:x val="9.444066876528906E-2"/>
                  <c:y val="1.527210195831638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93D-40D5-B6FD-7C67F95D97EF}"/>
                </c:ext>
              </c:extLst>
            </c:dLbl>
            <c:dLbl>
              <c:idx val="2"/>
              <c:layout>
                <c:manualLayout>
                  <c:x val="-0.11130507390194799"/>
                  <c:y val="0.1425396182776195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93D-40D5-B6FD-7C67F95D97EF}"/>
                </c:ext>
              </c:extLst>
            </c:dLbl>
            <c:dLbl>
              <c:idx val="3"/>
              <c:layout>
                <c:manualLayout>
                  <c:x val="-0.17538981342125137"/>
                  <c:y val="-2.545350326386063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93D-40D5-B6FD-7C67F95D97EF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Chart!$B$88:$B$91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Chart!$C$88:$C$91</c:f>
              <c:numCache>
                <c:formatCode>#,##0</c:formatCode>
                <c:ptCount val="4"/>
                <c:pt idx="0">
                  <c:v>1386</c:v>
                </c:pt>
                <c:pt idx="1">
                  <c:v>6011</c:v>
                </c:pt>
                <c:pt idx="2">
                  <c:v>1320</c:v>
                </c:pt>
                <c:pt idx="3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93D-40D5-B6FD-7C67F95D9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Status of Work Inspection Request (Nos)</a:t>
            </a:r>
            <a:endParaRPr lang="en-US" sz="1400">
              <a:effectLst/>
            </a:endParaRPr>
          </a:p>
        </c:rich>
      </c:tx>
      <c:layout>
        <c:manualLayout>
          <c:xMode val="edge"/>
          <c:yMode val="edge"/>
          <c:x val="0.14280048706895695"/>
          <c:y val="1.12050374636375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850859414752783"/>
          <c:y val="0.19743287154432737"/>
          <c:w val="0.53330463631250058"/>
          <c:h val="0.78176796699874218"/>
        </c:manualLayout>
      </c:layout>
      <c:doughnutChart>
        <c:varyColors val="1"/>
        <c:ser>
          <c:idx val="0"/>
          <c:order val="0"/>
          <c:tx>
            <c:strRef>
              <c:f>Chart!$B$5</c:f>
              <c:strCache>
                <c:ptCount val="1"/>
                <c:pt idx="0">
                  <c:v>Total Submitted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C1F-42C7-99E0-097F2F5162F7}"/>
              </c:ext>
            </c:extLst>
          </c:dPt>
          <c:dLbls>
            <c:dLbl>
              <c:idx val="0"/>
              <c:layout>
                <c:manualLayout>
                  <c:x val="0"/>
                  <c:y val="-0.22950806505281474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1F-42C7-99E0-097F2F5162F7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Chart!$B$6:$B$9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Chart!$C$5</c:f>
              <c:numCache>
                <c:formatCode>#,##0</c:formatCode>
                <c:ptCount val="1"/>
                <c:pt idx="0">
                  <c:v>7043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1F-42C7-99E0-097F2F5162F7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4C1F-42C7-99E0-097F2F5162F7}"/>
              </c:ext>
            </c:extLst>
          </c:dPt>
          <c:dPt>
            <c:idx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4C1F-42C7-99E0-097F2F5162F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4C1F-42C7-99E0-097F2F5162F7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C1F-42C7-99E0-097F2F5162F7}"/>
              </c:ext>
            </c:extLst>
          </c:dPt>
          <c:dLbls>
            <c:dLbl>
              <c:idx val="0"/>
              <c:layout>
                <c:manualLayout>
                  <c:x val="8.0321285140562249E-2"/>
                  <c:y val="-4.00728367552533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1F-42C7-99E0-097F2F5162F7}"/>
                </c:ext>
              </c:extLst>
            </c:dLbl>
            <c:dLbl>
              <c:idx val="2"/>
              <c:layout>
                <c:manualLayout>
                  <c:x val="-0.1606425702811245"/>
                  <c:y val="1.361784804270513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C1F-42C7-99E0-097F2F5162F7}"/>
                </c:ext>
              </c:extLst>
            </c:dLbl>
            <c:dLbl>
              <c:idx val="3"/>
              <c:layout>
                <c:manualLayout>
                  <c:x val="-7.4905215721942517E-2"/>
                  <c:y val="-0.1012119422829293"/>
                </c:manualLayout>
              </c:layout>
              <c:numFmt formatCode="0" sourceLinked="0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00597590878958"/>
                      <c:h val="0.122758558721674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4C1F-42C7-99E0-097F2F5162F7}"/>
                </c:ext>
              </c:extLst>
            </c:dLbl>
            <c:numFmt formatCode="0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Chart!$B$6:$B$9</c:f>
              <c:strCache>
                <c:ptCount val="4"/>
                <c:pt idx="0">
                  <c:v>Code A</c:v>
                </c:pt>
                <c:pt idx="1">
                  <c:v>Code B</c:v>
                </c:pt>
                <c:pt idx="2">
                  <c:v>Code C</c:v>
                </c:pt>
                <c:pt idx="3">
                  <c:v>Under Review by Engineer</c:v>
                </c:pt>
              </c:strCache>
            </c:strRef>
          </c:cat>
          <c:val>
            <c:numRef>
              <c:f>Chart!$C$6:$C$9</c:f>
              <c:numCache>
                <c:formatCode>#,##0</c:formatCode>
                <c:ptCount val="4"/>
                <c:pt idx="0">
                  <c:v>418</c:v>
                </c:pt>
                <c:pt idx="1">
                  <c:v>6241</c:v>
                </c:pt>
                <c:pt idx="2">
                  <c:v>284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C1F-42C7-99E0-097F2F5162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0ECAB7-0F67-6375-2A6A-18A3EFA27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6103938" cy="396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HHH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65FD8-A09D-D6FE-B707-3698C55833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977188" y="0"/>
            <a:ext cx="6103937" cy="396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C2374-75D5-476F-96C8-A1105AA5EE1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73657-FB7F-949A-4EAC-0F7D39697D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527925"/>
            <a:ext cx="6103938" cy="396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70290-8847-D416-7B0B-8AE8C20624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977188" y="7527925"/>
            <a:ext cx="6103937" cy="396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63F19-9C73-49DC-A83D-AAAC1B6F1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6981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70321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t>Presenter</a:t>
            </a:r>
          </a:p>
          <a:p>
            <a:r>
              <a:t>2025-05-21 16:30:00</a:t>
            </a:r>
          </a:p>
          <a:p>
            <a:r>
              <a:t>--------------------------------------------</a:t>
            </a:r>
          </a:p>
          <a:p>
            <a:r>
              <a:t>Click on slide if image does not  load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FAA3-2760-4A38-0EAA-F8FCD2C3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8D923A-343E-6D82-F4DC-79B8369FD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0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FAA3-2760-4A38-0EAA-F8FCD2C3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8D923A-343E-6D82-F4DC-79B8369FD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77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8FB5-5C0D-D159-CC0E-AA4DA01D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621FAC36-728E-32CB-395C-764F46170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5586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118E-644C-6397-D070-92C2B9A0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D968D9A7-C0CE-865F-07FD-D3F4E6299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9769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B664-7A52-7D42-D12C-BA6C73E5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73938F7-B2B0-BB7C-5641-2F93DE7DD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3827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390A-D65C-3583-0CCA-DCB8D6CB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05D0641-1667-DC5F-9182-DFA104C06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3154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2455-1626-0504-A3DE-617A1FAB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DBF9A3B-0A56-2237-9E29-2360BE51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105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9EE5-30D3-4C3D-926D-12F10091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AC05959-5095-F354-0622-F8244838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1663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9EE5-30D3-4C3D-926D-12F10091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AC05959-5095-F354-0622-F8244838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673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2455-1626-0504-A3DE-617A1FAB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DBF9A3B-0A56-2237-9E29-2360BE51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0235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9EE5-30D3-4C3D-926D-12F10091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AC05959-5095-F354-0622-F8244838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0720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E58F-6580-50F2-B56A-1506E6F5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5762AB0-3F97-8370-588C-2A0055FAF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6981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9EE5-30D3-4C3D-926D-12F10091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AC05959-5095-F354-0622-F8244838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2833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B413-F298-1B3D-D87F-312B75BF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83849240-E156-0EC1-ABDE-55037B963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774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4128-179C-6411-A0A5-FA8865AA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D87F5F26-901D-DBF2-C793-E10D647AF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2878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2C992-2BE0-8B41-8730-973B5F90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93F9154-A817-E1AC-6519-7C7F3B860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4459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2C992-2BE0-8B41-8730-973B5F90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93F9154-A817-E1AC-6519-7C7F3B860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8447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647A-7ACC-FADA-101D-02691136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CFB6B81-9CA9-47D3-D39E-9BEB29431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597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8C3E-AAE5-F1E1-5449-3D7EA5D1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81329CF-34BA-1D2F-D9E8-4C178749F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8358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8C3E-AAE5-F1E1-5449-3D7EA5D1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81329CF-34BA-1D2F-D9E8-4C178749F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1620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4F5B-05D1-C8A5-5317-B8352731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D5C32FC8-EEC5-F8AE-141A-20A3B2A5D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9100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F7F9-3FB0-ACF0-43BF-B3129698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0934FA9-17F8-7019-38D3-3C8A35768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6175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1B25-5851-3B0F-6B40-5376207F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2B8450B6-127B-AD4B-7EE5-C8871AE5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96632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1DD6-88C7-7F49-5E8F-E2A7FF3A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CC0C667-23CA-D6E3-B363-125BB2E6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847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14079855" cy="7920355"/>
          </a:xfrm>
          <a:custGeom>
            <a:avLst/>
            <a:gdLst/>
            <a:ahLst/>
            <a:cxnLst/>
            <a:rect l="l" t="t" r="r" b="b"/>
            <a:pathLst>
              <a:path w="14079855" h="7920355">
                <a:moveTo>
                  <a:pt x="14079537" y="0"/>
                </a:moveTo>
                <a:lnTo>
                  <a:pt x="0" y="0"/>
                </a:lnTo>
                <a:lnTo>
                  <a:pt x="0" y="7920037"/>
                </a:lnTo>
                <a:lnTo>
                  <a:pt x="14079537" y="7920037"/>
                </a:lnTo>
                <a:lnTo>
                  <a:pt x="14079537" y="0"/>
                </a:lnTo>
                <a:close/>
              </a:path>
            </a:pathLst>
          </a:custGeom>
          <a:solidFill>
            <a:srgbClr val="C17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3703" y="26400"/>
            <a:ext cx="7336532" cy="789382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4265" y="7526629"/>
            <a:ext cx="1652381" cy="31262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05636" y="5430191"/>
            <a:ext cx="4135120" cy="0"/>
          </a:xfrm>
          <a:custGeom>
            <a:avLst/>
            <a:gdLst/>
            <a:ahLst/>
            <a:cxnLst/>
            <a:rect l="l" t="t" r="r" b="b"/>
            <a:pathLst>
              <a:path w="4135120">
                <a:moveTo>
                  <a:pt x="0" y="0"/>
                </a:moveTo>
                <a:lnTo>
                  <a:pt x="4134866" y="0"/>
                </a:lnTo>
              </a:path>
            </a:pathLst>
          </a:custGeom>
          <a:ln w="9525">
            <a:solidFill>
              <a:srgbClr val="D9B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762" y="2840562"/>
            <a:ext cx="1225677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12645" y="4437888"/>
            <a:ext cx="9859010" cy="198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9B8AC-7C06-4234-A6C8-7BD5A9207903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 u="sng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F577-D38E-45C1-AFA3-418E0DC7287B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 u="sng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04215" y="1822704"/>
            <a:ext cx="6126670" cy="5230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253414" y="1822704"/>
            <a:ext cx="6126670" cy="5230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F12D9-689C-49C3-8F9C-F99890AC1A09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 u="sng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04EF6-53D2-42EB-94A6-0412B1A8056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B8AFE-BDF0-4BC2-9CC8-BC11B8334091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14079855" cy="7920355"/>
          </a:xfrm>
          <a:custGeom>
            <a:avLst/>
            <a:gdLst/>
            <a:ahLst/>
            <a:cxnLst/>
            <a:rect l="l" t="t" r="r" b="b"/>
            <a:pathLst>
              <a:path w="14079855" h="7920355">
                <a:moveTo>
                  <a:pt x="14079537" y="0"/>
                </a:moveTo>
                <a:lnTo>
                  <a:pt x="0" y="0"/>
                </a:lnTo>
                <a:lnTo>
                  <a:pt x="0" y="7920024"/>
                </a:lnTo>
                <a:lnTo>
                  <a:pt x="14079537" y="7920024"/>
                </a:lnTo>
                <a:lnTo>
                  <a:pt x="14079537" y="0"/>
                </a:lnTo>
                <a:close/>
              </a:path>
            </a:pathLst>
          </a:custGeom>
          <a:solidFill>
            <a:srgbClr val="DBBB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185" y="389620"/>
            <a:ext cx="13715928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 u="sng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93746" y="2895214"/>
            <a:ext cx="10688320" cy="210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88662" y="7370064"/>
            <a:ext cx="4506976" cy="396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4215" y="7370064"/>
            <a:ext cx="3239389" cy="396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A70CC-F910-4CD1-849A-D3BACCC99ED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40696" y="7370064"/>
            <a:ext cx="3239389" cy="396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04774" y="81026"/>
            <a:ext cx="66484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700" spc="-5" dirty="0">
                <a:latin typeface="Calibri"/>
                <a:cs typeface="Calibri"/>
              </a:rPr>
              <a:t>Client</a:t>
            </a:r>
            <a:r>
              <a:rPr sz="700" spc="-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Confidential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573" y="13138"/>
            <a:ext cx="14079537" cy="7185887"/>
            <a:chOff x="214504" y="105172"/>
            <a:chExt cx="14079537" cy="70463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504" y="105172"/>
              <a:ext cx="14079537" cy="6277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7588" y="7151522"/>
              <a:ext cx="8926195" cy="0"/>
            </a:xfrm>
            <a:custGeom>
              <a:avLst/>
              <a:gdLst/>
              <a:ahLst/>
              <a:cxnLst/>
              <a:rect l="l" t="t" r="r" b="b"/>
              <a:pathLst>
                <a:path w="8926195">
                  <a:moveTo>
                    <a:pt x="0" y="0"/>
                  </a:moveTo>
                  <a:lnTo>
                    <a:pt x="8926131" y="0"/>
                  </a:lnTo>
                </a:path>
              </a:pathLst>
            </a:custGeom>
            <a:ln w="28575">
              <a:solidFill>
                <a:srgbClr val="C171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00012" y="914773"/>
              <a:ext cx="2163850" cy="21589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5899" y="6568810"/>
            <a:ext cx="1006703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b="1" dirty="0">
                <a:solidFill>
                  <a:srgbClr val="C17150"/>
                </a:solidFill>
                <a:cs typeface="Calibri"/>
              </a:rPr>
              <a:t> </a:t>
            </a:r>
            <a:r>
              <a:rPr lang="en-US" sz="3200" b="1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Weekly Quality Report No (54) –01</a:t>
            </a:r>
            <a:r>
              <a:rPr lang="en-US" sz="2800" b="1" baseline="30000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</a:t>
            </a:r>
            <a:r>
              <a:rPr lang="en-US" sz="2800" b="1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Oct 2026</a:t>
            </a:r>
            <a:br>
              <a:rPr lang="en-US" sz="3200" dirty="0"/>
            </a:br>
            <a:endParaRPr lang="en-US" sz="3200" dirty="0"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200" dirty="0">
              <a:solidFill>
                <a:srgbClr val="C17150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158" y="7074076"/>
            <a:ext cx="8820150" cy="42704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solidFill>
                  <a:srgbClr val="C17150"/>
                </a:solidFill>
                <a:cs typeface="Calibri"/>
              </a:rPr>
              <a:t> Contract</a:t>
            </a:r>
            <a:r>
              <a:rPr lang="en-US" sz="2000" b="1" spc="-35" dirty="0">
                <a:solidFill>
                  <a:srgbClr val="C17150"/>
                </a:solidFill>
                <a:cs typeface="Calibri"/>
              </a:rPr>
              <a:t> </a:t>
            </a:r>
            <a:r>
              <a:rPr lang="en-US" sz="2000" b="1" dirty="0">
                <a:solidFill>
                  <a:srgbClr val="C17150"/>
                </a:solidFill>
                <a:cs typeface="Calibri"/>
              </a:rPr>
              <a:t>No.</a:t>
            </a:r>
            <a:r>
              <a:rPr lang="en-US" sz="2000" b="1" spc="-5" dirty="0">
                <a:solidFill>
                  <a:srgbClr val="C17150"/>
                </a:solidFill>
                <a:cs typeface="Calibri"/>
              </a:rPr>
              <a:t> DD-2023-329 </a:t>
            </a:r>
            <a:r>
              <a:rPr lang="en-US" sz="2000" b="1" dirty="0">
                <a:solidFill>
                  <a:srgbClr val="C17150"/>
                </a:solidFill>
                <a:cs typeface="Calibri"/>
              </a:rPr>
              <a:t>-</a:t>
            </a:r>
            <a:r>
              <a:rPr lang="en-US" sz="2000" b="1" spc="-20" dirty="0">
                <a:solidFill>
                  <a:srgbClr val="C17150"/>
                </a:solidFill>
                <a:cs typeface="Calibri"/>
              </a:rPr>
              <a:t> </a:t>
            </a:r>
            <a:r>
              <a:rPr lang="en-US" sz="2000" b="1" dirty="0">
                <a:solidFill>
                  <a:srgbClr val="C17150"/>
                </a:solidFill>
                <a:cs typeface="Calibri"/>
              </a:rPr>
              <a:t>Opera</a:t>
            </a:r>
            <a:r>
              <a:rPr lang="en-US" sz="2000" b="1" spc="-20" dirty="0">
                <a:solidFill>
                  <a:srgbClr val="C17150"/>
                </a:solidFill>
                <a:cs typeface="Calibri"/>
              </a:rPr>
              <a:t> </a:t>
            </a:r>
            <a:r>
              <a:rPr lang="en-US" sz="2000" b="1" dirty="0">
                <a:solidFill>
                  <a:srgbClr val="C17150"/>
                </a:solidFill>
                <a:cs typeface="Calibri"/>
              </a:rPr>
              <a:t>House</a:t>
            </a:r>
            <a:endParaRPr lang="en-US" sz="2000" dirty="0">
              <a:solidFill>
                <a:srgbClr val="C17150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Index </a:t>
            </a:r>
            <a:r>
              <a:rPr lang="en-US" spc="-5" dirty="0">
                <a:solidFill>
                  <a:srgbClr val="C17150"/>
                </a:solidFill>
              </a:rPr>
              <a:t>    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8950" y="1414715"/>
            <a:ext cx="6292857" cy="55313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QMS Documentation Status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Construction Submittals</a:t>
            </a:r>
          </a:p>
          <a:p>
            <a:pPr marL="926465" lvl="1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Method Statement</a:t>
            </a:r>
          </a:p>
          <a:p>
            <a:pPr marL="926465" lvl="1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Inspection Test Plan</a:t>
            </a:r>
          </a:p>
          <a:p>
            <a:pPr marL="926465" lvl="1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Material Approval Request</a:t>
            </a:r>
          </a:p>
          <a:p>
            <a:pPr marL="926465" lvl="1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Shop Drawings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Non-Conformance Report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Training Induction and Compliance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Annual Audit Plan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Quality Resources Deployment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Lessons Learned &amp; Continual Improvement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Quality Monitoring Performance ( Metrics/ KPIs)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Area of Concerns &amp; Mitigation Plans</a:t>
            </a:r>
          </a:p>
          <a:p>
            <a:pPr marL="469265" indent="-457200">
              <a:lnSpc>
                <a:spcPct val="125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541020" algn="l"/>
                <a:tab pos="541655" algn="l"/>
              </a:tabLst>
            </a:pPr>
            <a:r>
              <a:rPr lang="en-US" sz="2000" b="1" spc="-2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Any other Business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60BAA-D5B2-9217-3E5D-9822C1A3A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623" y="988848"/>
            <a:ext cx="6907367" cy="57917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87D7-2F04-73AD-33F0-FE080B90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F6E77B45-D73E-FC2C-6A83-8DFA5709D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5" y="152400"/>
            <a:ext cx="13715928" cy="5116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QMS Documentation Status</a:t>
            </a:r>
            <a:r>
              <a:rPr lang="en-US" spc="-10" dirty="0">
                <a:solidFill>
                  <a:srgbClr val="C17150"/>
                </a:solidFill>
              </a:rPr>
              <a:t>	</a:t>
            </a:r>
            <a:endParaRPr spc="-10" dirty="0">
              <a:solidFill>
                <a:srgbClr val="C1715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C40E25-AA60-6F73-BBAD-6F6D14BB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411715"/>
              </p:ext>
            </p:extLst>
          </p:nvPr>
        </p:nvGraphicFramePr>
        <p:xfrm>
          <a:off x="565150" y="730506"/>
          <a:ext cx="13106401" cy="56388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78633267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1679572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219232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0321791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9356985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2147644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3649654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0182370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876967852"/>
                    </a:ext>
                  </a:extLst>
                </a:gridCol>
                <a:gridCol w="1473966">
                  <a:extLst>
                    <a:ext uri="{9D8B030D-6E8A-4147-A177-3AD203B41FA5}">
                      <a16:colId xmlns:a16="http://schemas.microsoft.com/office/drawing/2014/main" val="3639137695"/>
                    </a:ext>
                  </a:extLst>
                </a:gridCol>
                <a:gridCol w="1345435">
                  <a:extLst>
                    <a:ext uri="{9D8B030D-6E8A-4147-A177-3AD203B41FA5}">
                      <a16:colId xmlns:a16="http://schemas.microsoft.com/office/drawing/2014/main" val="3809145348"/>
                    </a:ext>
                  </a:extLst>
                </a:gridCol>
              </a:tblGrid>
              <a:tr h="143655"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DOC. Type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Total</a:t>
                      </a:r>
                      <a:endParaRPr lang="en-US" sz="18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Status-A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Status-B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Status-C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Status-D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QA Rejected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For Info.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Draft/ withdrawn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Under review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Terminated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879884"/>
                  </a:ext>
                </a:extLst>
              </a:tr>
              <a:tr h="264561"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PLAN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28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16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0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0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2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0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0307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5A7C5B-AF7D-2B86-13F8-44C821F29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61129"/>
              </p:ext>
            </p:extLst>
          </p:nvPr>
        </p:nvGraphicFramePr>
        <p:xfrm>
          <a:off x="670508" y="1326737"/>
          <a:ext cx="12895683" cy="6431259"/>
        </p:xfrm>
        <a:graphic>
          <a:graphicData uri="http://schemas.openxmlformats.org/drawingml/2006/table">
            <a:tbl>
              <a:tblPr/>
              <a:tblGrid>
                <a:gridCol w="692459">
                  <a:extLst>
                    <a:ext uri="{9D8B030D-6E8A-4147-A177-3AD203B41FA5}">
                      <a16:colId xmlns:a16="http://schemas.microsoft.com/office/drawing/2014/main" val="3884389970"/>
                    </a:ext>
                  </a:extLst>
                </a:gridCol>
                <a:gridCol w="2478783">
                  <a:extLst>
                    <a:ext uri="{9D8B030D-6E8A-4147-A177-3AD203B41FA5}">
                      <a16:colId xmlns:a16="http://schemas.microsoft.com/office/drawing/2014/main" val="94241359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6635083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89304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0046365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0404223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6509574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9260406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6338335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61628399"/>
                    </a:ext>
                  </a:extLst>
                </a:gridCol>
                <a:gridCol w="2409241">
                  <a:extLst>
                    <a:ext uri="{9D8B030D-6E8A-4147-A177-3AD203B41FA5}">
                      <a16:colId xmlns:a16="http://schemas.microsoft.com/office/drawing/2014/main" val="3147278210"/>
                    </a:ext>
                  </a:extLst>
                </a:gridCol>
              </a:tblGrid>
              <a:tr h="234577"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No.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Activity Name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grid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Submission  Date 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Approval  Date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Revision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Current Status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Latest Re-submitted Date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Forecast resubmission / Status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rowSpan="2"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Remark / Reference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5957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Baseline Planned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Actual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algn="ctr" fontAlgn="ctr"/>
                      <a:r>
                        <a:rPr lang="en-US" sz="9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</a:rPr>
                        <a:t>Actual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99032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Quality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sym typeface="Rockwell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BV-BSW-105-0000-ECM-PLN-QL-000001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77593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Safety Environmental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sym typeface="Rockwell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460134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sym typeface="Rockwell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BV-BSW-105-0000-ECM-PLN-LO-000001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839719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Project/Construction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BV-BSW-105-0000-ECM-PLN-MN-000001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04049"/>
                  </a:ext>
                </a:extLst>
              </a:tr>
              <a:tr h="194374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BIM Execution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11-June-25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BV-BSW-105-0000-ECM-PLN-BM-000001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666185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Baseline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Programme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02-Feb-26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BV-BSW-105-0000-ECM-SCH-PC-000001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077864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Specific Induction Program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sym typeface="Rockwell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BV-BSW-105-0000-ECM-PRO-HS-000001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31190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OHS Proactive Monitoring Program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BV-BSW-105-0000-ECM-PRO-HS-000003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037969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Risk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06-Aug-25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BV-BSW-105-0000-ECM-PLN-RK-000001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737965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Security &amp; Access Control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31875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MEPI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19727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Construction Environmental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05-Aug-25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BV-BSW-105-0000-ECM-PLN-EN-000001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828773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Emergency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BV-BSW-105-0000-ECM-PLN-HS-000004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125385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Waste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036830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Fire Prevention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BV-BSW-105-0000-ECM-PLN-HS-000007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959869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Adverse Weather Mitigation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BV-BSW-105-0000-ECM-PLN-HS-000006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925254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Traffic Management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Submitted as part of Logistic management plan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60278"/>
                  </a:ext>
                </a:extLst>
              </a:tr>
              <a:tr h="275149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Flood Mitigation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BV-BSW-105-0000-ECM-PLN-HS-000008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704839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Dust and Noise Control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/>
                          <a:cs typeface="Calibri"/>
                        </a:rPr>
                        <a:t> BV-BSW-105-0000-ECM-PLN-EN-000002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23629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Provisional Sum Procurement Strategy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01-Jun-25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 Info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BV-BSW-105-0000-ECM-PLN-PR-000001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825336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Secondary PS Procurement Strategy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29-Oct-25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29-Oct-25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 Info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BV-BSW-105-0000-ECM-PLN-PR-000003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449352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Welfare Facility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22-May-25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BV-BSW-105-0000-ECM-PLN-HS-000003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776678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OHS Resource Deployment Schedule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Covered under OHS Plan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270904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Continuity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17-Jul-25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 Work May Proceed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BV-BSW-105-0000-ECM-PLN-HS-000012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42308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Labor Subsistence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27-Aug-25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BV-BSW-105-0000-ECM-PLN-SU-000001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164550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Sustainability Management Action Plan (SMP)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10-Sep-25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C-Revise an Resubmit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BV-BSW-105-0000-ECM-PLN-SU-000002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318684"/>
                  </a:ext>
                </a:extLst>
              </a:tr>
              <a:tr h="20877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dirty="0"/>
                        <a:t>Construction Activity Pollution Prevention Plan (ESCP)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06-Oct-25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C-Revise an Resubmit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BV-BSW-105-0000-ECM-PLN-SU-000003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463858"/>
                  </a:ext>
                </a:extLst>
              </a:tr>
              <a:tr h="208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Execution Plan</a:t>
                      </a:r>
                    </a:p>
                  </a:txBody>
                  <a:tcPr marL="57465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 - Approved with Comments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79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BV-BSW-105-0000-ECM-PLN-MN-000002</a:t>
                      </a:r>
                    </a:p>
                  </a:txBody>
                  <a:tcPr marL="4789" marR="4789" marT="47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484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9834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87D7-2F04-73AD-33F0-FE080B90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F6E77B45-D73E-FC2C-6A83-8DFA5709D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5" y="152400"/>
            <a:ext cx="13715928" cy="5116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QMS Documentation Status</a:t>
            </a:r>
            <a:r>
              <a:rPr lang="en-US" spc="-10" dirty="0">
                <a:solidFill>
                  <a:srgbClr val="C17150"/>
                </a:solidFill>
              </a:rPr>
              <a:t>	</a:t>
            </a:r>
            <a:endParaRPr spc="-10" dirty="0">
              <a:solidFill>
                <a:srgbClr val="C1715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C40E25-AA60-6F73-BBAD-6F6D14BB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879547"/>
              </p:ext>
            </p:extLst>
          </p:nvPr>
        </p:nvGraphicFramePr>
        <p:xfrm>
          <a:off x="1327150" y="762000"/>
          <a:ext cx="11430000" cy="56388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378633267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1679572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52192327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03217914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39356985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639137695"/>
                    </a:ext>
                  </a:extLst>
                </a:gridCol>
              </a:tblGrid>
              <a:tr h="89301"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DOC. Type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Total</a:t>
                      </a:r>
                      <a:endParaRPr lang="en-US" sz="18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Status-A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Status-B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Status-C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sym typeface="Rockwell"/>
                        </a:rPr>
                        <a:t>Under review</a:t>
                      </a:r>
                      <a:endParaRPr lang="en-US" sz="1600" b="1" i="0" u="none" strike="noStrike" cap="none" spc="0" baseline="0" dirty="0">
                        <a:solidFill>
                          <a:srgbClr val="F1E5D7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879884"/>
                  </a:ext>
                </a:extLst>
              </a:tr>
              <a:tr h="264561"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QUALITY CONTROL PROCEDURE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sym typeface="Rockwell"/>
                        </a:rPr>
                        <a:t>0</a:t>
                      </a:r>
                      <a:endParaRPr lang="en-US" sz="1800" b="1" i="0" u="none" strike="noStrike" cap="none" spc="0" baseline="0" dirty="0">
                        <a:solidFill>
                          <a:srgbClr val="55142D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Rockwel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52797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solidFill>
                            <a:srgbClr val="55142D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ckwell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0307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5A7C5B-AF7D-2B86-13F8-44C821F29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52639"/>
              </p:ext>
            </p:extLst>
          </p:nvPr>
        </p:nvGraphicFramePr>
        <p:xfrm>
          <a:off x="960728" y="1467517"/>
          <a:ext cx="12162842" cy="5177496"/>
        </p:xfrm>
        <a:graphic>
          <a:graphicData uri="http://schemas.openxmlformats.org/drawingml/2006/table">
            <a:tbl>
              <a:tblPr/>
              <a:tblGrid>
                <a:gridCol w="885242">
                  <a:extLst>
                    <a:ext uri="{9D8B030D-6E8A-4147-A177-3AD203B41FA5}">
                      <a16:colId xmlns:a16="http://schemas.microsoft.com/office/drawing/2014/main" val="388438997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942413596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92604067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47278210"/>
                    </a:ext>
                  </a:extLst>
                </a:gridCol>
              </a:tblGrid>
              <a:tr h="44568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</a:rPr>
                        <a:t>No.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</a:rPr>
                        <a:t>Doc No.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</a:rPr>
                        <a:t>Title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cap="none" spc="0" baseline="0" dirty="0">
                          <a:solidFill>
                            <a:srgbClr val="F1E5D7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59574"/>
                  </a:ext>
                </a:extLst>
              </a:tr>
              <a:tr h="33238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BV-BSW-105-0000-ECM-PRO-QL-000001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Control of Inspection and Testing Activities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77593"/>
                  </a:ext>
                </a:extLst>
              </a:tr>
              <a:tr h="33238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BV-BSW-105-0000-ECM-PRO-QL-000002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Management and Control of Nonconformities (Internal &amp; External NCRs)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Approved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460134"/>
                  </a:ext>
                </a:extLst>
              </a:tr>
              <a:tr h="33238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BV-BSW-105-0000-ECM-PRO-QL-000003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Internal and External Audits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Approved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839719"/>
                  </a:ext>
                </a:extLst>
              </a:tr>
              <a:tr h="36625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BV-BSW-105-0000-ECM-PRO-QL-000004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Control and Calibration of Measuring and Testing Equipment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Approved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04049"/>
                  </a:ext>
                </a:extLst>
              </a:tr>
              <a:tr h="33238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BV-BSW-105-0000-ECM-PRO-QL-000005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Training and Personnel Competency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666185"/>
                  </a:ext>
                </a:extLst>
              </a:tr>
              <a:tr h="33238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BV-BSW-105-0000-ECM-PRO-QL-000006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Lessons Learned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077864"/>
                  </a:ext>
                </a:extLst>
              </a:tr>
              <a:tr h="332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BV-BSW-105-0000-ECM-PRO-QL-000007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Corrective and Preventive action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54678"/>
                  </a:ext>
                </a:extLst>
              </a:tr>
              <a:tr h="3285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BV-BSW-105-0000-ECM-PRO-QL-000008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Calibri"/>
                        </a:rPr>
                        <a:t>Procedure for Submission of Pre-Qualification of Subcontractor / Supplier and Material Approval Request 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583944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BV-BSW-105-0000-ECM-PRO-QL-000009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Procedure for Bolt Tightening Procedure For Steel Scope (Zamil)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705174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BV-BSW-105-0000-ECM-PRO-QL-000010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Procedure for Quality Control, Fabrication, Handling, Storage &amp; Shipping and Repair of Precast Concrete Elements.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29963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BV-BSW-105-0000-ECM-PRO-QL-000011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Touch-UP Procedure For Steel Scope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416118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BV-BSW-105-0000-ECM-PRO-QL-000012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Corrective Action/Repair Procedure For Steel Scope - Zamil Steel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Revise and Re-Submit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02900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BV-BSW-105-0000-ECM-PRO-QL-000013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WELDING PROCEDURE SPECIFICATIONS (WPS &amp; PQR )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Under Review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817578"/>
                  </a:ext>
                </a:extLst>
              </a:tr>
              <a:tr h="311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4789" marR="4789" marT="47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BV-BSW-105-0000-ECM-PRO-QL-000014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WELDING PROCEDURE SPECIFICATIONS (WPS )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"/>
                          <a:cs typeface="Calibri"/>
                        </a:rPr>
                        <a:t>Approved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92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30222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60F0-677B-62AF-5FD9-49AEB362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5A4C23A4-D9D3-CCCC-2B2F-48200328F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Construction Submittals – Method Statement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03F81D-BD9F-7A3E-57E7-4FF751F3A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33786"/>
              </p:ext>
            </p:extLst>
          </p:nvPr>
        </p:nvGraphicFramePr>
        <p:xfrm>
          <a:off x="2768599" y="909050"/>
          <a:ext cx="8547100" cy="1224550"/>
        </p:xfrm>
        <a:graphic>
          <a:graphicData uri="http://schemas.openxmlformats.org/drawingml/2006/table">
            <a:tbl>
              <a:tblPr/>
              <a:tblGrid>
                <a:gridCol w="709093">
                  <a:extLst>
                    <a:ext uri="{9D8B030D-6E8A-4147-A177-3AD203B41FA5}">
                      <a16:colId xmlns:a16="http://schemas.microsoft.com/office/drawing/2014/main" val="2209006730"/>
                    </a:ext>
                  </a:extLst>
                </a:gridCol>
                <a:gridCol w="607794">
                  <a:extLst>
                    <a:ext uri="{9D8B030D-6E8A-4147-A177-3AD203B41FA5}">
                      <a16:colId xmlns:a16="http://schemas.microsoft.com/office/drawing/2014/main" val="2376727925"/>
                    </a:ext>
                  </a:extLst>
                </a:gridCol>
                <a:gridCol w="607794">
                  <a:extLst>
                    <a:ext uri="{9D8B030D-6E8A-4147-A177-3AD203B41FA5}">
                      <a16:colId xmlns:a16="http://schemas.microsoft.com/office/drawing/2014/main" val="1778247072"/>
                    </a:ext>
                  </a:extLst>
                </a:gridCol>
                <a:gridCol w="772405">
                  <a:extLst>
                    <a:ext uri="{9D8B030D-6E8A-4147-A177-3AD203B41FA5}">
                      <a16:colId xmlns:a16="http://schemas.microsoft.com/office/drawing/2014/main" val="1349529612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1574461966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367082676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3188935795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3677802382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3995222015"/>
                    </a:ext>
                  </a:extLst>
                </a:gridCol>
                <a:gridCol w="712258">
                  <a:extLst>
                    <a:ext uri="{9D8B030D-6E8A-4147-A177-3AD203B41FA5}">
                      <a16:colId xmlns:a16="http://schemas.microsoft.com/office/drawing/2014/main" val="593273348"/>
                    </a:ext>
                  </a:extLst>
                </a:gridCol>
                <a:gridCol w="788233">
                  <a:extLst>
                    <a:ext uri="{9D8B030D-6E8A-4147-A177-3AD203B41FA5}">
                      <a16:colId xmlns:a16="http://schemas.microsoft.com/office/drawing/2014/main" val="1730841625"/>
                    </a:ext>
                  </a:extLst>
                </a:gridCol>
                <a:gridCol w="788233">
                  <a:extLst>
                    <a:ext uri="{9D8B030D-6E8A-4147-A177-3AD203B41FA5}">
                      <a16:colId xmlns:a16="http://schemas.microsoft.com/office/drawing/2014/main" val="1004874728"/>
                    </a:ext>
                  </a:extLst>
                </a:gridCol>
              </a:tblGrid>
              <a:tr h="295275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Previous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98945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8025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99237"/>
                  </a:ext>
                </a:extLst>
              </a:tr>
              <a:tr h="2625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986626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F226F18-504F-4D6B-822F-4E441A53CA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713510"/>
              </p:ext>
            </p:extLst>
          </p:nvPr>
        </p:nvGraphicFramePr>
        <p:xfrm>
          <a:off x="3693001" y="2334479"/>
          <a:ext cx="6698298" cy="4676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88145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0EE3-4F25-52C2-6743-52E0F59C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C342DE40-39E6-2B25-98C1-D39009987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Construction Submittals – Inspection Test Plan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BE8484-9C2F-8AF2-DA53-1B8EFEF11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294310"/>
              </p:ext>
            </p:extLst>
          </p:nvPr>
        </p:nvGraphicFramePr>
        <p:xfrm>
          <a:off x="2067435" y="990600"/>
          <a:ext cx="9372602" cy="1219200"/>
        </p:xfrm>
        <a:graphic>
          <a:graphicData uri="http://schemas.openxmlformats.org/drawingml/2006/table">
            <a:tbl>
              <a:tblPr/>
              <a:tblGrid>
                <a:gridCol w="805747">
                  <a:extLst>
                    <a:ext uri="{9D8B030D-6E8A-4147-A177-3AD203B41FA5}">
                      <a16:colId xmlns:a16="http://schemas.microsoft.com/office/drawing/2014/main" val="562982471"/>
                    </a:ext>
                  </a:extLst>
                </a:gridCol>
                <a:gridCol w="691523">
                  <a:extLst>
                    <a:ext uri="{9D8B030D-6E8A-4147-A177-3AD203B41FA5}">
                      <a16:colId xmlns:a16="http://schemas.microsoft.com/office/drawing/2014/main" val="3502760488"/>
                    </a:ext>
                  </a:extLst>
                </a:gridCol>
                <a:gridCol w="592734">
                  <a:extLst>
                    <a:ext uri="{9D8B030D-6E8A-4147-A177-3AD203B41FA5}">
                      <a16:colId xmlns:a16="http://schemas.microsoft.com/office/drawing/2014/main" val="1847743552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1724160146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316502728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098400632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922257039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367722804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570112810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559139756"/>
                    </a:ext>
                  </a:extLst>
                </a:gridCol>
                <a:gridCol w="765614">
                  <a:extLst>
                    <a:ext uri="{9D8B030D-6E8A-4147-A177-3AD203B41FA5}">
                      <a16:colId xmlns:a16="http://schemas.microsoft.com/office/drawing/2014/main" val="2821314590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936610982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3167511268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Previous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64304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8103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50508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068660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8C151B-9BE3-400A-E276-F6CC997A0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425825"/>
              </p:ext>
            </p:extLst>
          </p:nvPr>
        </p:nvGraphicFramePr>
        <p:xfrm>
          <a:off x="3785587" y="2465763"/>
          <a:ext cx="5936298" cy="444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6676099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4543-4754-951D-1842-4FCDBBF7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A82086FA-1FB4-E340-A45A-50A2C6B81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Non-Conformance Reports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AB65E4-43D1-E7D9-D35E-5F4DF88D0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91051"/>
              </p:ext>
            </p:extLst>
          </p:nvPr>
        </p:nvGraphicFramePr>
        <p:xfrm>
          <a:off x="3232150" y="909050"/>
          <a:ext cx="7213603" cy="1453150"/>
        </p:xfrm>
        <a:graphic>
          <a:graphicData uri="http://schemas.openxmlformats.org/drawingml/2006/table">
            <a:tbl>
              <a:tblPr/>
              <a:tblGrid>
                <a:gridCol w="919897">
                  <a:extLst>
                    <a:ext uri="{9D8B030D-6E8A-4147-A177-3AD203B41FA5}">
                      <a16:colId xmlns:a16="http://schemas.microsoft.com/office/drawing/2014/main" val="70872644"/>
                    </a:ext>
                  </a:extLst>
                </a:gridCol>
                <a:gridCol w="768129">
                  <a:extLst>
                    <a:ext uri="{9D8B030D-6E8A-4147-A177-3AD203B41FA5}">
                      <a16:colId xmlns:a16="http://schemas.microsoft.com/office/drawing/2014/main" val="997904111"/>
                    </a:ext>
                  </a:extLst>
                </a:gridCol>
                <a:gridCol w="768129">
                  <a:extLst>
                    <a:ext uri="{9D8B030D-6E8A-4147-A177-3AD203B41FA5}">
                      <a16:colId xmlns:a16="http://schemas.microsoft.com/office/drawing/2014/main" val="1669765945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1228818627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484722477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277950137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43143620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435846290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2811756277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654782149"/>
                    </a:ext>
                  </a:extLst>
                </a:gridCol>
                <a:gridCol w="594681">
                  <a:extLst>
                    <a:ext uri="{9D8B030D-6E8A-4147-A177-3AD203B41FA5}">
                      <a16:colId xmlns:a16="http://schemas.microsoft.com/office/drawing/2014/main" val="2323115600"/>
                    </a:ext>
                  </a:extLst>
                </a:gridCol>
              </a:tblGrid>
              <a:tr h="59055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Previous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56682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b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Respond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b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Respond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9232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861222"/>
                  </a:ext>
                </a:extLst>
              </a:tr>
              <a:tr h="2625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515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7DFF145-A27B-4C91-A78A-8A19A523F1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246193"/>
              </p:ext>
            </p:extLst>
          </p:nvPr>
        </p:nvGraphicFramePr>
        <p:xfrm>
          <a:off x="3869790" y="2488040"/>
          <a:ext cx="6344720" cy="452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012001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77D4-9B86-F0B3-B083-04701414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BA71ECD3-3506-6C04-986A-5F58CE8A0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Site Observation Reports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7079E0-24CA-E160-0E30-CD45B790B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100883"/>
              </p:ext>
            </p:extLst>
          </p:nvPr>
        </p:nvGraphicFramePr>
        <p:xfrm>
          <a:off x="3536950" y="898890"/>
          <a:ext cx="7086600" cy="1310910"/>
        </p:xfrm>
        <a:graphic>
          <a:graphicData uri="http://schemas.openxmlformats.org/drawingml/2006/table">
            <a:tbl>
              <a:tblPr/>
              <a:tblGrid>
                <a:gridCol w="1082118">
                  <a:extLst>
                    <a:ext uri="{9D8B030D-6E8A-4147-A177-3AD203B41FA5}">
                      <a16:colId xmlns:a16="http://schemas.microsoft.com/office/drawing/2014/main" val="1092148702"/>
                    </a:ext>
                  </a:extLst>
                </a:gridCol>
                <a:gridCol w="903588">
                  <a:extLst>
                    <a:ext uri="{9D8B030D-6E8A-4147-A177-3AD203B41FA5}">
                      <a16:colId xmlns:a16="http://schemas.microsoft.com/office/drawing/2014/main" val="1982227525"/>
                    </a:ext>
                  </a:extLst>
                </a:gridCol>
                <a:gridCol w="903588">
                  <a:extLst>
                    <a:ext uri="{9D8B030D-6E8A-4147-A177-3AD203B41FA5}">
                      <a16:colId xmlns:a16="http://schemas.microsoft.com/office/drawing/2014/main" val="206977024"/>
                    </a:ext>
                  </a:extLst>
                </a:gridCol>
                <a:gridCol w="699551">
                  <a:extLst>
                    <a:ext uri="{9D8B030D-6E8A-4147-A177-3AD203B41FA5}">
                      <a16:colId xmlns:a16="http://schemas.microsoft.com/office/drawing/2014/main" val="2320174054"/>
                    </a:ext>
                  </a:extLst>
                </a:gridCol>
                <a:gridCol w="602155">
                  <a:extLst>
                    <a:ext uri="{9D8B030D-6E8A-4147-A177-3AD203B41FA5}">
                      <a16:colId xmlns:a16="http://schemas.microsoft.com/office/drawing/2014/main" val="2952123785"/>
                    </a:ext>
                  </a:extLst>
                </a:gridCol>
                <a:gridCol w="796947">
                  <a:extLst>
                    <a:ext uri="{9D8B030D-6E8A-4147-A177-3AD203B41FA5}">
                      <a16:colId xmlns:a16="http://schemas.microsoft.com/office/drawing/2014/main" val="3166592287"/>
                    </a:ext>
                  </a:extLst>
                </a:gridCol>
                <a:gridCol w="699551">
                  <a:extLst>
                    <a:ext uri="{9D8B030D-6E8A-4147-A177-3AD203B41FA5}">
                      <a16:colId xmlns:a16="http://schemas.microsoft.com/office/drawing/2014/main" val="413801656"/>
                    </a:ext>
                  </a:extLst>
                </a:gridCol>
                <a:gridCol w="699551">
                  <a:extLst>
                    <a:ext uri="{9D8B030D-6E8A-4147-A177-3AD203B41FA5}">
                      <a16:colId xmlns:a16="http://schemas.microsoft.com/office/drawing/2014/main" val="382980546"/>
                    </a:ext>
                  </a:extLst>
                </a:gridCol>
                <a:gridCol w="699551">
                  <a:extLst>
                    <a:ext uri="{9D8B030D-6E8A-4147-A177-3AD203B41FA5}">
                      <a16:colId xmlns:a16="http://schemas.microsoft.com/office/drawing/2014/main" val="1276729564"/>
                    </a:ext>
                  </a:extLst>
                </a:gridCol>
              </a:tblGrid>
              <a:tr h="61241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Previous Week (17 Sep to 22 Sep)</a:t>
                      </a:r>
                    </a:p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F1E5D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F1E5D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009966"/>
                  </a:ext>
                </a:extLst>
              </a:tr>
              <a:tr h="207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832758"/>
                  </a:ext>
                </a:extLst>
              </a:tr>
              <a:tr h="2074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849755"/>
                  </a:ext>
                </a:extLst>
              </a:tr>
              <a:tr h="2836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794405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1FC2F96-BC3F-418A-BBD1-59C80D822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9446583"/>
              </p:ext>
            </p:extLst>
          </p:nvPr>
        </p:nvGraphicFramePr>
        <p:xfrm>
          <a:off x="3735604" y="2438400"/>
          <a:ext cx="6613091" cy="4222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23597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A8F6-1EAA-A049-C626-AC6CE145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06164E21-11CF-87EA-8979-F31378859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Construction Submittals – NCR (Internal)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ABEC4B-554E-1A8C-9055-B83765BDF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403272"/>
              </p:ext>
            </p:extLst>
          </p:nvPr>
        </p:nvGraphicFramePr>
        <p:xfrm>
          <a:off x="3492500" y="909050"/>
          <a:ext cx="6908800" cy="160555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40600258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218738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3827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615946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30204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584868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799830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8004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0605597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566571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24036240"/>
                    </a:ext>
                  </a:extLst>
                </a:gridCol>
              </a:tblGrid>
              <a:tr h="59055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29011"/>
                  </a:ext>
                </a:extLst>
              </a:tr>
              <a:tr h="557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b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Respond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b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Issued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Respond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386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91902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58671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7DFF145-A27B-4C91-A78A-8A19A523F1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9765413"/>
              </p:ext>
            </p:extLst>
          </p:nvPr>
        </p:nvGraphicFramePr>
        <p:xfrm>
          <a:off x="3755489" y="2667000"/>
          <a:ext cx="6573320" cy="4756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90450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BA4D-F391-2F26-EA5E-8A86651B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E916E3C8-C474-259D-5C4A-23A1CA55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– Test Reports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1C4B77-BEC3-F9EF-8910-EECA909AE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21847"/>
              </p:ext>
            </p:extLst>
          </p:nvPr>
        </p:nvGraphicFramePr>
        <p:xfrm>
          <a:off x="2895601" y="972256"/>
          <a:ext cx="7988300" cy="1618544"/>
        </p:xfrm>
        <a:graphic>
          <a:graphicData uri="http://schemas.openxmlformats.org/drawingml/2006/table">
            <a:tbl>
              <a:tblPr/>
              <a:tblGrid>
                <a:gridCol w="793749">
                  <a:extLst>
                    <a:ext uri="{9D8B030D-6E8A-4147-A177-3AD203B41FA5}">
                      <a16:colId xmlns:a16="http://schemas.microsoft.com/office/drawing/2014/main" val="4096568146"/>
                    </a:ext>
                  </a:extLst>
                </a:gridCol>
                <a:gridCol w="488951">
                  <a:extLst>
                    <a:ext uri="{9D8B030D-6E8A-4147-A177-3AD203B41FA5}">
                      <a16:colId xmlns:a16="http://schemas.microsoft.com/office/drawing/2014/main" val="15797778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1807067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1392067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223370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08903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180698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73584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964755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001410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34199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529148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3110666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534871"/>
                  </a:ext>
                </a:extLst>
              </a:tr>
              <a:tr h="600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12882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370453"/>
                  </a:ext>
                </a:extLst>
              </a:tr>
              <a:tr h="323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2295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8C151B-9BE3-400A-E276-F6CC997A0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752723"/>
              </p:ext>
            </p:extLst>
          </p:nvPr>
        </p:nvGraphicFramePr>
        <p:xfrm>
          <a:off x="3654901" y="2743200"/>
          <a:ext cx="6774497" cy="469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1449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BA4D-F391-2F26-EA5E-8A86651B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E916E3C8-C474-259D-5C4A-23A1CA55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5" y="389620"/>
            <a:ext cx="1371592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z="2800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– Prequalification</a:t>
            </a:r>
            <a:r>
              <a:rPr sz="2800"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7B478-7942-90ED-7A08-12ACABEA3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05914"/>
              </p:ext>
            </p:extLst>
          </p:nvPr>
        </p:nvGraphicFramePr>
        <p:xfrm>
          <a:off x="2825750" y="857449"/>
          <a:ext cx="8432797" cy="1580951"/>
        </p:xfrm>
        <a:graphic>
          <a:graphicData uri="http://schemas.openxmlformats.org/drawingml/2006/table">
            <a:tbl>
              <a:tblPr/>
              <a:tblGrid>
                <a:gridCol w="930342">
                  <a:extLst>
                    <a:ext uri="{9D8B030D-6E8A-4147-A177-3AD203B41FA5}">
                      <a16:colId xmlns:a16="http://schemas.microsoft.com/office/drawing/2014/main" val="777447966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1387869786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4152828093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3986198007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2780451935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820786544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2925522728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1994177890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1346275747"/>
                    </a:ext>
                  </a:extLst>
                </a:gridCol>
                <a:gridCol w="603465">
                  <a:extLst>
                    <a:ext uri="{9D8B030D-6E8A-4147-A177-3AD203B41FA5}">
                      <a16:colId xmlns:a16="http://schemas.microsoft.com/office/drawing/2014/main" val="3649441544"/>
                    </a:ext>
                  </a:extLst>
                </a:gridCol>
                <a:gridCol w="691471">
                  <a:extLst>
                    <a:ext uri="{9D8B030D-6E8A-4147-A177-3AD203B41FA5}">
                      <a16:colId xmlns:a16="http://schemas.microsoft.com/office/drawing/2014/main" val="335882226"/>
                    </a:ext>
                  </a:extLst>
                </a:gridCol>
                <a:gridCol w="691471">
                  <a:extLst>
                    <a:ext uri="{9D8B030D-6E8A-4147-A177-3AD203B41FA5}">
                      <a16:colId xmlns:a16="http://schemas.microsoft.com/office/drawing/2014/main" val="4263231370"/>
                    </a:ext>
                  </a:extLst>
                </a:gridCol>
                <a:gridCol w="688328">
                  <a:extLst>
                    <a:ext uri="{9D8B030D-6E8A-4147-A177-3AD203B41FA5}">
                      <a16:colId xmlns:a16="http://schemas.microsoft.com/office/drawing/2014/main" val="1435716912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040155"/>
                  </a:ext>
                </a:extLst>
              </a:tr>
              <a:tr h="600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3308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40781"/>
                  </a:ext>
                </a:extLst>
              </a:tr>
              <a:tr h="3808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46420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B8683EC-3BB0-4F06-BC88-8449FBBF4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286182"/>
              </p:ext>
            </p:extLst>
          </p:nvPr>
        </p:nvGraphicFramePr>
        <p:xfrm>
          <a:off x="4032250" y="2463800"/>
          <a:ext cx="6019800" cy="4856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955471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A8F6-1EAA-A049-C626-AC6CE145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06164E21-11CF-87EA-8979-F31378859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Construction Submittals – Material Approval Request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01D7DC-53EF-8769-CF03-2070211A2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07647"/>
              </p:ext>
            </p:extLst>
          </p:nvPr>
        </p:nvGraphicFramePr>
        <p:xfrm>
          <a:off x="2279649" y="990600"/>
          <a:ext cx="9372602" cy="1314450"/>
        </p:xfrm>
        <a:graphic>
          <a:graphicData uri="http://schemas.openxmlformats.org/drawingml/2006/table">
            <a:tbl>
              <a:tblPr/>
              <a:tblGrid>
                <a:gridCol w="805747">
                  <a:extLst>
                    <a:ext uri="{9D8B030D-6E8A-4147-A177-3AD203B41FA5}">
                      <a16:colId xmlns:a16="http://schemas.microsoft.com/office/drawing/2014/main" val="3401978285"/>
                    </a:ext>
                  </a:extLst>
                </a:gridCol>
                <a:gridCol w="691523">
                  <a:extLst>
                    <a:ext uri="{9D8B030D-6E8A-4147-A177-3AD203B41FA5}">
                      <a16:colId xmlns:a16="http://schemas.microsoft.com/office/drawing/2014/main" val="275334953"/>
                    </a:ext>
                  </a:extLst>
                </a:gridCol>
                <a:gridCol w="592734">
                  <a:extLst>
                    <a:ext uri="{9D8B030D-6E8A-4147-A177-3AD203B41FA5}">
                      <a16:colId xmlns:a16="http://schemas.microsoft.com/office/drawing/2014/main" val="315969267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1882414635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1943425646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15696766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450659610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981299879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924779592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166931865"/>
                    </a:ext>
                  </a:extLst>
                </a:gridCol>
                <a:gridCol w="765614">
                  <a:extLst>
                    <a:ext uri="{9D8B030D-6E8A-4147-A177-3AD203B41FA5}">
                      <a16:colId xmlns:a16="http://schemas.microsoft.com/office/drawing/2014/main" val="3718932940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3306104006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3698388110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0125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571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24858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9067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B8683EC-3BB0-4F06-BC88-8449FBBF4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015646"/>
              </p:ext>
            </p:extLst>
          </p:nvPr>
        </p:nvGraphicFramePr>
        <p:xfrm>
          <a:off x="3730307" y="2514600"/>
          <a:ext cx="6623686" cy="4899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85258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BA4D-F391-2F26-EA5E-8A86651B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E916E3C8-C474-259D-5C4A-23A1CA55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5" y="389620"/>
            <a:ext cx="1371592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z="2800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– Material Sample Approval</a:t>
            </a:r>
            <a:r>
              <a:rPr sz="2800"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D91B2A-0324-FA62-81D2-63DC1F6E8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570912"/>
              </p:ext>
            </p:extLst>
          </p:nvPr>
        </p:nvGraphicFramePr>
        <p:xfrm>
          <a:off x="2949574" y="832049"/>
          <a:ext cx="8185150" cy="1152525"/>
        </p:xfrm>
        <a:graphic>
          <a:graphicData uri="http://schemas.openxmlformats.org/drawingml/2006/table">
            <a:tbl>
              <a:tblPr/>
              <a:tblGrid>
                <a:gridCol w="735233">
                  <a:extLst>
                    <a:ext uri="{9D8B030D-6E8A-4147-A177-3AD203B41FA5}">
                      <a16:colId xmlns:a16="http://schemas.microsoft.com/office/drawing/2014/main" val="599768552"/>
                    </a:ext>
                  </a:extLst>
                </a:gridCol>
                <a:gridCol w="579075">
                  <a:extLst>
                    <a:ext uri="{9D8B030D-6E8A-4147-A177-3AD203B41FA5}">
                      <a16:colId xmlns:a16="http://schemas.microsoft.com/office/drawing/2014/main" val="1917675294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2887376221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4017376972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3331526303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2062508566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405991480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2767602699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3550610472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2522256571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2874081738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3023501080"/>
                    </a:ext>
                  </a:extLst>
                </a:gridCol>
                <a:gridCol w="624622">
                  <a:extLst>
                    <a:ext uri="{9D8B030D-6E8A-4147-A177-3AD203B41FA5}">
                      <a16:colId xmlns:a16="http://schemas.microsoft.com/office/drawing/2014/main" val="1662773377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418499"/>
                  </a:ext>
                </a:extLst>
              </a:tr>
              <a:tr h="438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4170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6730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79122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B8683EC-3BB0-4F06-BC88-8449FBBF4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4086130"/>
              </p:ext>
            </p:extLst>
          </p:nvPr>
        </p:nvGraphicFramePr>
        <p:xfrm>
          <a:off x="3501705" y="2139751"/>
          <a:ext cx="7080887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9160144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B802A-B933-685E-3CA5-568ECF67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F5254D07-53D7-6E4C-84EA-D3D1C8593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- MIR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907101-0C6F-8F8E-5179-0A5F950E5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2883"/>
              </p:ext>
            </p:extLst>
          </p:nvPr>
        </p:nvGraphicFramePr>
        <p:xfrm>
          <a:off x="2165350" y="914130"/>
          <a:ext cx="9372602" cy="1300750"/>
        </p:xfrm>
        <a:graphic>
          <a:graphicData uri="http://schemas.openxmlformats.org/drawingml/2006/table">
            <a:tbl>
              <a:tblPr/>
              <a:tblGrid>
                <a:gridCol w="805747">
                  <a:extLst>
                    <a:ext uri="{9D8B030D-6E8A-4147-A177-3AD203B41FA5}">
                      <a16:colId xmlns:a16="http://schemas.microsoft.com/office/drawing/2014/main" val="2336016909"/>
                    </a:ext>
                  </a:extLst>
                </a:gridCol>
                <a:gridCol w="691523">
                  <a:extLst>
                    <a:ext uri="{9D8B030D-6E8A-4147-A177-3AD203B41FA5}">
                      <a16:colId xmlns:a16="http://schemas.microsoft.com/office/drawing/2014/main" val="3506904533"/>
                    </a:ext>
                  </a:extLst>
                </a:gridCol>
                <a:gridCol w="592734">
                  <a:extLst>
                    <a:ext uri="{9D8B030D-6E8A-4147-A177-3AD203B41FA5}">
                      <a16:colId xmlns:a16="http://schemas.microsoft.com/office/drawing/2014/main" val="4064405374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1999322187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2750976501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315886821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18781334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332551865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778703481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088791412"/>
                    </a:ext>
                  </a:extLst>
                </a:gridCol>
                <a:gridCol w="765614">
                  <a:extLst>
                    <a:ext uri="{9D8B030D-6E8A-4147-A177-3AD203B41FA5}">
                      <a16:colId xmlns:a16="http://schemas.microsoft.com/office/drawing/2014/main" val="55141243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3662827835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1469084237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655910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12329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79989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292143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A81C7F-D906-4B45-BB58-092681E7D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815914"/>
              </p:ext>
            </p:extLst>
          </p:nvPr>
        </p:nvGraphicFramePr>
        <p:xfrm>
          <a:off x="3765550" y="2286000"/>
          <a:ext cx="655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0172538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BA4D-F391-2F26-EA5E-8A86651B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E916E3C8-C474-259D-5C4A-23A1CA55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- RFI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89219C-CD04-8695-9441-BA350B64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277133"/>
              </p:ext>
            </p:extLst>
          </p:nvPr>
        </p:nvGraphicFramePr>
        <p:xfrm>
          <a:off x="3232150" y="909050"/>
          <a:ext cx="6858002" cy="895350"/>
        </p:xfrm>
        <a:graphic>
          <a:graphicData uri="http://schemas.openxmlformats.org/drawingml/2006/table">
            <a:tbl>
              <a:tblPr/>
              <a:tblGrid>
                <a:gridCol w="670625">
                  <a:extLst>
                    <a:ext uri="{9D8B030D-6E8A-4147-A177-3AD203B41FA5}">
                      <a16:colId xmlns:a16="http://schemas.microsoft.com/office/drawing/2014/main" val="3090180586"/>
                    </a:ext>
                  </a:extLst>
                </a:gridCol>
                <a:gridCol w="670625">
                  <a:extLst>
                    <a:ext uri="{9D8B030D-6E8A-4147-A177-3AD203B41FA5}">
                      <a16:colId xmlns:a16="http://schemas.microsoft.com/office/drawing/2014/main" val="3999507790"/>
                    </a:ext>
                  </a:extLst>
                </a:gridCol>
                <a:gridCol w="670625">
                  <a:extLst>
                    <a:ext uri="{9D8B030D-6E8A-4147-A177-3AD203B41FA5}">
                      <a16:colId xmlns:a16="http://schemas.microsoft.com/office/drawing/2014/main" val="1517508528"/>
                    </a:ext>
                  </a:extLst>
                </a:gridCol>
                <a:gridCol w="670625">
                  <a:extLst>
                    <a:ext uri="{9D8B030D-6E8A-4147-A177-3AD203B41FA5}">
                      <a16:colId xmlns:a16="http://schemas.microsoft.com/office/drawing/2014/main" val="1377102774"/>
                    </a:ext>
                  </a:extLst>
                </a:gridCol>
                <a:gridCol w="866223">
                  <a:extLst>
                    <a:ext uri="{9D8B030D-6E8A-4147-A177-3AD203B41FA5}">
                      <a16:colId xmlns:a16="http://schemas.microsoft.com/office/drawing/2014/main" val="1601070951"/>
                    </a:ext>
                  </a:extLst>
                </a:gridCol>
                <a:gridCol w="869716">
                  <a:extLst>
                    <a:ext uri="{9D8B030D-6E8A-4147-A177-3AD203B41FA5}">
                      <a16:colId xmlns:a16="http://schemas.microsoft.com/office/drawing/2014/main" val="2292431681"/>
                    </a:ext>
                  </a:extLst>
                </a:gridCol>
                <a:gridCol w="686963">
                  <a:extLst>
                    <a:ext uri="{9D8B030D-6E8A-4147-A177-3AD203B41FA5}">
                      <a16:colId xmlns:a16="http://schemas.microsoft.com/office/drawing/2014/main" val="6393046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4999876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07685838"/>
                    </a:ext>
                  </a:extLst>
                </a:gridCol>
              </a:tblGrid>
              <a:tr h="20002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337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RELPY RECD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REPLY NOT RECD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RELPY RECD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REPLY NOT RECD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 Responded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 No Response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9882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7019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41928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C31A119-8F56-4A26-9F14-39101D122C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578630"/>
              </p:ext>
            </p:extLst>
          </p:nvPr>
        </p:nvGraphicFramePr>
        <p:xfrm>
          <a:off x="3917950" y="1905000"/>
          <a:ext cx="5562600" cy="57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1913234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E8523-17BC-2176-273A-B2B00443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32AFF39B-D120-C345-B333-311D9320D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Construction Submittals – Shop Drawings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8EF93F-5E50-F6A7-0181-0BFEEE692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98944"/>
              </p:ext>
            </p:extLst>
          </p:nvPr>
        </p:nvGraphicFramePr>
        <p:xfrm>
          <a:off x="2355848" y="894445"/>
          <a:ext cx="9372602" cy="1095375"/>
        </p:xfrm>
        <a:graphic>
          <a:graphicData uri="http://schemas.openxmlformats.org/drawingml/2006/table">
            <a:tbl>
              <a:tblPr/>
              <a:tblGrid>
                <a:gridCol w="805747">
                  <a:extLst>
                    <a:ext uri="{9D8B030D-6E8A-4147-A177-3AD203B41FA5}">
                      <a16:colId xmlns:a16="http://schemas.microsoft.com/office/drawing/2014/main" val="4163322283"/>
                    </a:ext>
                  </a:extLst>
                </a:gridCol>
                <a:gridCol w="691523">
                  <a:extLst>
                    <a:ext uri="{9D8B030D-6E8A-4147-A177-3AD203B41FA5}">
                      <a16:colId xmlns:a16="http://schemas.microsoft.com/office/drawing/2014/main" val="2430423975"/>
                    </a:ext>
                  </a:extLst>
                </a:gridCol>
                <a:gridCol w="592734">
                  <a:extLst>
                    <a:ext uri="{9D8B030D-6E8A-4147-A177-3AD203B41FA5}">
                      <a16:colId xmlns:a16="http://schemas.microsoft.com/office/drawing/2014/main" val="2426228882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2330362531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476530277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783722641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284873888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185658512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843451611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607437566"/>
                    </a:ext>
                  </a:extLst>
                </a:gridCol>
                <a:gridCol w="765614">
                  <a:extLst>
                    <a:ext uri="{9D8B030D-6E8A-4147-A177-3AD203B41FA5}">
                      <a16:colId xmlns:a16="http://schemas.microsoft.com/office/drawing/2014/main" val="832744399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714599373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2516701206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42134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4371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469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99933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8177883-51C2-4FBD-8865-FAC57841FD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06348"/>
              </p:ext>
            </p:extLst>
          </p:nvPr>
        </p:nvGraphicFramePr>
        <p:xfrm>
          <a:off x="2927350" y="2133600"/>
          <a:ext cx="7315200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7228335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1539-91DF-770C-5600-5452534F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7BF117C3-112B-C8C8-7801-A78FA5E2E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- WIR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14D629-32B9-8DB9-363E-6A4E826BE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57877"/>
              </p:ext>
            </p:extLst>
          </p:nvPr>
        </p:nvGraphicFramePr>
        <p:xfrm>
          <a:off x="2546350" y="1019498"/>
          <a:ext cx="9372602" cy="1190302"/>
        </p:xfrm>
        <a:graphic>
          <a:graphicData uri="http://schemas.openxmlformats.org/drawingml/2006/table">
            <a:tbl>
              <a:tblPr/>
              <a:tblGrid>
                <a:gridCol w="805747">
                  <a:extLst>
                    <a:ext uri="{9D8B030D-6E8A-4147-A177-3AD203B41FA5}">
                      <a16:colId xmlns:a16="http://schemas.microsoft.com/office/drawing/2014/main" val="4148469902"/>
                    </a:ext>
                  </a:extLst>
                </a:gridCol>
                <a:gridCol w="691523">
                  <a:extLst>
                    <a:ext uri="{9D8B030D-6E8A-4147-A177-3AD203B41FA5}">
                      <a16:colId xmlns:a16="http://schemas.microsoft.com/office/drawing/2014/main" val="2197498259"/>
                    </a:ext>
                  </a:extLst>
                </a:gridCol>
                <a:gridCol w="592734">
                  <a:extLst>
                    <a:ext uri="{9D8B030D-6E8A-4147-A177-3AD203B41FA5}">
                      <a16:colId xmlns:a16="http://schemas.microsoft.com/office/drawing/2014/main" val="1063600160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2172518470"/>
                    </a:ext>
                  </a:extLst>
                </a:gridCol>
                <a:gridCol w="753266">
                  <a:extLst>
                    <a:ext uri="{9D8B030D-6E8A-4147-A177-3AD203B41FA5}">
                      <a16:colId xmlns:a16="http://schemas.microsoft.com/office/drawing/2014/main" val="3536006412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324390915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1430123916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2939178085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565442492"/>
                    </a:ext>
                  </a:extLst>
                </a:gridCol>
                <a:gridCol w="694610">
                  <a:extLst>
                    <a:ext uri="{9D8B030D-6E8A-4147-A177-3AD203B41FA5}">
                      <a16:colId xmlns:a16="http://schemas.microsoft.com/office/drawing/2014/main" val="3503049800"/>
                    </a:ext>
                  </a:extLst>
                </a:gridCol>
                <a:gridCol w="765614">
                  <a:extLst>
                    <a:ext uri="{9D8B030D-6E8A-4147-A177-3AD203B41FA5}">
                      <a16:colId xmlns:a16="http://schemas.microsoft.com/office/drawing/2014/main" val="252687434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2900053383"/>
                    </a:ext>
                  </a:extLst>
                </a:gridCol>
                <a:gridCol w="768701">
                  <a:extLst>
                    <a:ext uri="{9D8B030D-6E8A-4147-A177-3AD203B41FA5}">
                      <a16:colId xmlns:a16="http://schemas.microsoft.com/office/drawing/2014/main" val="4265134578"/>
                    </a:ext>
                  </a:extLst>
                </a:gridCol>
              </a:tblGrid>
              <a:tr h="2952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 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(17 Sep to 22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(24 Sep to 30 Sep)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634122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U/R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% Rejection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78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Cumulative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12745"/>
                  </a:ext>
                </a:extLst>
              </a:tr>
              <a:tr h="294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55142D"/>
                          </a:solidFill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598031"/>
                  </a:ext>
                </a:extLst>
              </a:tr>
            </a:tbl>
          </a:graphicData>
        </a:graphic>
      </p:graphicFrame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4E5E9311-ED22-477D-A1F7-335EABA60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66419"/>
              </p:ext>
            </p:extLst>
          </p:nvPr>
        </p:nvGraphicFramePr>
        <p:xfrm>
          <a:off x="754380" y="2209800"/>
          <a:ext cx="3087370" cy="325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7370">
                  <a:extLst>
                    <a:ext uri="{9D8B030D-6E8A-4147-A177-3AD203B41FA5}">
                      <a16:colId xmlns:a16="http://schemas.microsoft.com/office/drawing/2014/main" val="313133731"/>
                    </a:ext>
                  </a:extLst>
                </a:gridCol>
              </a:tblGrid>
              <a:tr h="325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Last Week (</a:t>
                      </a:r>
                      <a:r>
                        <a:rPr lang="en-US" sz="14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17 Sep to 22 Sep</a:t>
                      </a: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131554"/>
                  </a:ext>
                </a:extLst>
              </a:tr>
            </a:tbl>
          </a:graphicData>
        </a:graphic>
      </p:graphicFrame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D2FA083D-A8B3-4445-9BF2-3ED8024E2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66963"/>
              </p:ext>
            </p:extLst>
          </p:nvPr>
        </p:nvGraphicFramePr>
        <p:xfrm>
          <a:off x="10279380" y="2233903"/>
          <a:ext cx="3087370" cy="325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7370">
                  <a:extLst>
                    <a:ext uri="{9D8B030D-6E8A-4147-A177-3AD203B41FA5}">
                      <a16:colId xmlns:a16="http://schemas.microsoft.com/office/drawing/2014/main" val="313133731"/>
                    </a:ext>
                  </a:extLst>
                </a:gridCol>
              </a:tblGrid>
              <a:tr h="325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This Week (</a:t>
                      </a:r>
                      <a:r>
                        <a:rPr lang="en-US" sz="1400" b="0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24 Sep to 30 Sep</a:t>
                      </a: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13155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B51055B-6868-4656-8F42-70D5A8BB5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454438"/>
              </p:ext>
            </p:extLst>
          </p:nvPr>
        </p:nvGraphicFramePr>
        <p:xfrm>
          <a:off x="735965" y="2544210"/>
          <a:ext cx="3124200" cy="3042972"/>
        </p:xfrm>
        <a:graphic>
          <a:graphicData uri="http://schemas.openxmlformats.org/drawingml/2006/table">
            <a:tbl>
              <a:tblPr/>
              <a:tblGrid>
                <a:gridCol w="1007806">
                  <a:extLst>
                    <a:ext uri="{9D8B030D-6E8A-4147-A177-3AD203B41FA5}">
                      <a16:colId xmlns:a16="http://schemas.microsoft.com/office/drawing/2014/main" val="2730399041"/>
                    </a:ext>
                  </a:extLst>
                </a:gridCol>
                <a:gridCol w="1058197">
                  <a:extLst>
                    <a:ext uri="{9D8B030D-6E8A-4147-A177-3AD203B41FA5}">
                      <a16:colId xmlns:a16="http://schemas.microsoft.com/office/drawing/2014/main" val="603540346"/>
                    </a:ext>
                  </a:extLst>
                </a:gridCol>
                <a:gridCol w="1058197">
                  <a:extLst>
                    <a:ext uri="{9D8B030D-6E8A-4147-A177-3AD203B41FA5}">
                      <a16:colId xmlns:a16="http://schemas.microsoft.com/office/drawing/2014/main" val="3371518246"/>
                    </a:ext>
                  </a:extLst>
                </a:gridCol>
              </a:tblGrid>
              <a:tr h="344302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CODE-B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CODE-C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933627"/>
                  </a:ext>
                </a:extLst>
              </a:tr>
              <a:tr h="3170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Discipline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6965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380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151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19207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77351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0552"/>
                  </a:ext>
                </a:extLst>
              </a:tr>
              <a:tr h="264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81284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771561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Acoustics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43508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6081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0978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F2E6373-9716-42C5-A11F-5BCBCDB64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741508"/>
              </p:ext>
            </p:extLst>
          </p:nvPr>
        </p:nvGraphicFramePr>
        <p:xfrm>
          <a:off x="717550" y="5559244"/>
          <a:ext cx="3124200" cy="2365556"/>
        </p:xfrm>
        <a:graphic>
          <a:graphicData uri="http://schemas.openxmlformats.org/drawingml/2006/table">
            <a:tbl>
              <a:tblPr/>
              <a:tblGrid>
                <a:gridCol w="1523999">
                  <a:extLst>
                    <a:ext uri="{9D8B030D-6E8A-4147-A177-3AD203B41FA5}">
                      <a16:colId xmlns:a16="http://schemas.microsoft.com/office/drawing/2014/main" val="2730399041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603540346"/>
                    </a:ext>
                  </a:extLst>
                </a:gridCol>
              </a:tblGrid>
              <a:tr h="344302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CODE-A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33627"/>
                  </a:ext>
                </a:extLst>
              </a:tr>
              <a:tr h="3170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Discipline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6965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380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151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67456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19207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77351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81284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0978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C2ED666-FC1F-4994-9075-DBE3B778A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388900"/>
              </p:ext>
            </p:extLst>
          </p:nvPr>
        </p:nvGraphicFramePr>
        <p:xfrm>
          <a:off x="10279380" y="2537544"/>
          <a:ext cx="3124200" cy="2940521"/>
        </p:xfrm>
        <a:graphic>
          <a:graphicData uri="http://schemas.openxmlformats.org/drawingml/2006/table">
            <a:tbl>
              <a:tblPr/>
              <a:tblGrid>
                <a:gridCol w="1007806">
                  <a:extLst>
                    <a:ext uri="{9D8B030D-6E8A-4147-A177-3AD203B41FA5}">
                      <a16:colId xmlns:a16="http://schemas.microsoft.com/office/drawing/2014/main" val="2730399041"/>
                    </a:ext>
                  </a:extLst>
                </a:gridCol>
                <a:gridCol w="1058197">
                  <a:extLst>
                    <a:ext uri="{9D8B030D-6E8A-4147-A177-3AD203B41FA5}">
                      <a16:colId xmlns:a16="http://schemas.microsoft.com/office/drawing/2014/main" val="603540346"/>
                    </a:ext>
                  </a:extLst>
                </a:gridCol>
                <a:gridCol w="1058197">
                  <a:extLst>
                    <a:ext uri="{9D8B030D-6E8A-4147-A177-3AD203B41FA5}">
                      <a16:colId xmlns:a16="http://schemas.microsoft.com/office/drawing/2014/main" val="3371518246"/>
                    </a:ext>
                  </a:extLst>
                </a:gridCol>
              </a:tblGrid>
              <a:tr h="344302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CODE-B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CODE-C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933627"/>
                  </a:ext>
                </a:extLst>
              </a:tr>
              <a:tr h="3170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Discipline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696582"/>
                  </a:ext>
                </a:extLst>
              </a:tr>
              <a:tr h="202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380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1510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Façade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19207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77351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0552"/>
                  </a:ext>
                </a:extLst>
              </a:tr>
              <a:tr h="264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81284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771561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Acoustics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43508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6241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0978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E7D8DC-BF97-421D-A895-9173F143A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26658"/>
              </p:ext>
            </p:extLst>
          </p:nvPr>
        </p:nvGraphicFramePr>
        <p:xfrm>
          <a:off x="10260330" y="5513691"/>
          <a:ext cx="3124200" cy="2365556"/>
        </p:xfrm>
        <a:graphic>
          <a:graphicData uri="http://schemas.openxmlformats.org/drawingml/2006/table">
            <a:tbl>
              <a:tblPr/>
              <a:tblGrid>
                <a:gridCol w="1523999">
                  <a:extLst>
                    <a:ext uri="{9D8B030D-6E8A-4147-A177-3AD203B41FA5}">
                      <a16:colId xmlns:a16="http://schemas.microsoft.com/office/drawing/2014/main" val="56202570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694317796"/>
                    </a:ext>
                  </a:extLst>
                </a:gridCol>
              </a:tblGrid>
              <a:tr h="344302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CODE-A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98559"/>
                  </a:ext>
                </a:extLst>
              </a:tr>
              <a:tr h="3170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Discipline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1E5D7"/>
                          </a:solidFill>
                          <a:effectLst/>
                          <a:latin typeface="Calibri" panose="020F0502020204030204" pitchFamily="34" charset="0"/>
                        </a:rPr>
                        <a:t>Number of WIRS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3663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551336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828778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342554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242860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203219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869237"/>
                  </a:ext>
                </a:extLst>
              </a:tr>
              <a:tr h="2332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123134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A5DE24D-3B96-4CF2-9E0E-1B772695DD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6681913"/>
              </p:ext>
            </p:extLst>
          </p:nvPr>
        </p:nvGraphicFramePr>
        <p:xfrm>
          <a:off x="4279582" y="2309090"/>
          <a:ext cx="5505768" cy="5463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844516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8915-65EC-C704-F193-8161C8D9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13A96934-0CB3-9BC8-A225-4D9C48BD7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6" y="13138"/>
            <a:ext cx="13715928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Training Induction and Compliance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DAA505E-E6FE-0A21-BD93-E885BC8E76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750205"/>
              </p:ext>
            </p:extLst>
          </p:nvPr>
        </p:nvGraphicFramePr>
        <p:xfrm>
          <a:off x="7141802" y="2635623"/>
          <a:ext cx="4521574" cy="271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5F120EC-0464-24F8-D41E-3982C88C8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532568"/>
            <a:ext cx="13487400" cy="73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9028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8915-65EC-C704-F193-8161C8D9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13A96934-0CB3-9BC8-A225-4D9C48BD7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6" y="13138"/>
            <a:ext cx="13715928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Training Induction and Compliance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DAA505E-E6FE-0A21-BD93-E885BC8E76C6}"/>
              </a:ext>
            </a:extLst>
          </p:cNvPr>
          <p:cNvGraphicFramePr>
            <a:graphicFrameLocks/>
          </p:cNvGraphicFramePr>
          <p:nvPr/>
        </p:nvGraphicFramePr>
        <p:xfrm>
          <a:off x="7141802" y="2635623"/>
          <a:ext cx="4521574" cy="271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86B705F-1A7C-2BA8-B3E5-B09120B9E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532568"/>
            <a:ext cx="13639764" cy="73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0529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3EF5-3E41-A10A-3827-B866BF472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AE87697A-A425-8BA2-8341-435C1CD4E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6" y="18393"/>
            <a:ext cx="13715928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Annual Audit Plan (Supplier &amp; Sub-Contractor) 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093DDF-7142-E4BD-C88E-48D020970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474498"/>
              </p:ext>
            </p:extLst>
          </p:nvPr>
        </p:nvGraphicFramePr>
        <p:xfrm>
          <a:off x="412750" y="537822"/>
          <a:ext cx="13334992" cy="7169512"/>
        </p:xfrm>
        <a:graphic>
          <a:graphicData uri="http://schemas.openxmlformats.org/drawingml/2006/table">
            <a:tbl>
              <a:tblPr/>
              <a:tblGrid>
                <a:gridCol w="328025">
                  <a:extLst>
                    <a:ext uri="{9D8B030D-6E8A-4147-A177-3AD203B41FA5}">
                      <a16:colId xmlns:a16="http://schemas.microsoft.com/office/drawing/2014/main" val="1679448932"/>
                    </a:ext>
                  </a:extLst>
                </a:gridCol>
                <a:gridCol w="1086586">
                  <a:extLst>
                    <a:ext uri="{9D8B030D-6E8A-4147-A177-3AD203B41FA5}">
                      <a16:colId xmlns:a16="http://schemas.microsoft.com/office/drawing/2014/main" val="3076299413"/>
                    </a:ext>
                  </a:extLst>
                </a:gridCol>
                <a:gridCol w="1125481">
                  <a:extLst>
                    <a:ext uri="{9D8B030D-6E8A-4147-A177-3AD203B41FA5}">
                      <a16:colId xmlns:a16="http://schemas.microsoft.com/office/drawing/2014/main" val="3499278256"/>
                    </a:ext>
                  </a:extLst>
                </a:gridCol>
                <a:gridCol w="1321047">
                  <a:extLst>
                    <a:ext uri="{9D8B030D-6E8A-4147-A177-3AD203B41FA5}">
                      <a16:colId xmlns:a16="http://schemas.microsoft.com/office/drawing/2014/main" val="3681501934"/>
                    </a:ext>
                  </a:extLst>
                </a:gridCol>
                <a:gridCol w="1321047">
                  <a:extLst>
                    <a:ext uri="{9D8B030D-6E8A-4147-A177-3AD203B41FA5}">
                      <a16:colId xmlns:a16="http://schemas.microsoft.com/office/drawing/2014/main" val="363831390"/>
                    </a:ext>
                  </a:extLst>
                </a:gridCol>
                <a:gridCol w="608214">
                  <a:extLst>
                    <a:ext uri="{9D8B030D-6E8A-4147-A177-3AD203B41FA5}">
                      <a16:colId xmlns:a16="http://schemas.microsoft.com/office/drawing/2014/main" val="239905755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462392041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819000971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59283772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174574474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32554649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173131984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707926652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917611479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4041876714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09464105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43637778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484669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899422992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277714473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102161763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92943313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420093656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154472568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40053861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59699807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98573733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374811386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076476049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49398457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72659973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174506718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6563089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70687086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39665363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71353682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854272652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61802364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936913310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718857826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94557027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485449337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66976608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863756972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717501286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376285031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488493293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426676370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768127090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2686829384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955543370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3069605905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1497446004"/>
                    </a:ext>
                  </a:extLst>
                </a:gridCol>
                <a:gridCol w="157179">
                  <a:extLst>
                    <a:ext uri="{9D8B030D-6E8A-4147-A177-3AD203B41FA5}">
                      <a16:colId xmlns:a16="http://schemas.microsoft.com/office/drawing/2014/main" val="4200985665"/>
                    </a:ext>
                  </a:extLst>
                </a:gridCol>
              </a:tblGrid>
              <a:tr h="552334">
                <a:tc rowSpan="2"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DD-2023-329 -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Diriyah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 II Management Contracting – Opera Block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1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312385"/>
                  </a:ext>
                </a:extLst>
              </a:tr>
              <a:tr h="324681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AUDIT PLAN - 2025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62208"/>
                  </a:ext>
                </a:extLst>
              </a:tr>
              <a:tr h="21085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Date: 01/May/2025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933915"/>
                  </a:ext>
                </a:extLst>
              </a:tr>
              <a:tr h="18286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Department / Discipline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Auditor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</a:t>
                      </a:r>
                      <a:r>
                        <a:rPr lang="en-U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type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 Documents 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4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 2025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12703"/>
                  </a:ext>
                </a:extLst>
              </a:tr>
              <a:tr h="1455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DEC.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012211"/>
                  </a:ext>
                </a:extLst>
              </a:tr>
              <a:tr h="1194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07783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Saudi Ready Mix Batching Plant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BV-BSW-105-0000-ECM-AUR-QL-000001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SRM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028685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888994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 3rd Party Lab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3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BV-BSW-105-0000-ECM-AUR-QL-000002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 Riyadh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79732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500593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BEC Arabia Batching Plant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BV-BSW-105-0000-ECM-AUR-QL-000003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BEC Diriyah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58964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42893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Cementix Batching Plant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BV-BSW-105-0000-ECM-AUR-QL-000004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Cementix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852299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9878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Quality Department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HQ Audit to ECM JV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QAM/IA/P189/25/001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Wadi Al Safar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42703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245278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Unibeton Batching Plant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BV-BSW-105-0000-ECM-AUR-QL-000005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Unibeton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983252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380805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876490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450870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012894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202258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34184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52533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19734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440331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976521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982736"/>
                  </a:ext>
                </a:extLst>
              </a:tr>
              <a:tr h="188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603363"/>
                  </a:ext>
                </a:extLst>
              </a:tr>
              <a:tr h="18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1112" marR="1112" marT="11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399148"/>
                  </a:ext>
                </a:extLst>
              </a:tr>
              <a:tr h="108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462827"/>
                  </a:ext>
                </a:extLst>
              </a:tr>
              <a:tr h="22877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Legend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063940"/>
                  </a:ext>
                </a:extLst>
              </a:tr>
              <a:tr h="228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Audit 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555120"/>
                  </a:ext>
                </a:extLst>
              </a:tr>
              <a:tr h="228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Audit 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171553"/>
                  </a:ext>
                </a:extLst>
              </a:tr>
              <a:tr h="228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o</a:t>
                      </a:r>
                    </a:p>
                  </a:txBody>
                  <a:tcPr marL="1112" marR="1112" marT="11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Unplanned Audit </a:t>
                      </a:r>
                    </a:p>
                  </a:txBody>
                  <a:tcPr marL="1112" marR="1112" marT="11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112" marR="1112" marT="111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17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1157824-8FE9-CF38-B90D-74B797B5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609600"/>
            <a:ext cx="746825" cy="701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886F7-B9A7-69C0-9688-540D6612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8424" y="751347"/>
            <a:ext cx="2049185" cy="39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295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B0E-8B98-0E2E-815C-7834B34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B39FE6AE-D031-7373-D64B-9826641DA2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6" y="18393"/>
            <a:ext cx="13715928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Annual Audit Plan (Supplier &amp; Sub-Contractor)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433FD9B-7CE6-6327-131B-23D74AFE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66032"/>
              </p:ext>
            </p:extLst>
          </p:nvPr>
        </p:nvGraphicFramePr>
        <p:xfrm>
          <a:off x="260351" y="537823"/>
          <a:ext cx="13652467" cy="7361162"/>
        </p:xfrm>
        <a:graphic>
          <a:graphicData uri="http://schemas.openxmlformats.org/drawingml/2006/table">
            <a:tbl>
              <a:tblPr/>
              <a:tblGrid>
                <a:gridCol w="332690">
                  <a:extLst>
                    <a:ext uri="{9D8B030D-6E8A-4147-A177-3AD203B41FA5}">
                      <a16:colId xmlns:a16="http://schemas.microsoft.com/office/drawing/2014/main" val="3005132744"/>
                    </a:ext>
                  </a:extLst>
                </a:gridCol>
                <a:gridCol w="1102036">
                  <a:extLst>
                    <a:ext uri="{9D8B030D-6E8A-4147-A177-3AD203B41FA5}">
                      <a16:colId xmlns:a16="http://schemas.microsoft.com/office/drawing/2014/main" val="2592599258"/>
                    </a:ext>
                  </a:extLst>
                </a:gridCol>
                <a:gridCol w="1013558">
                  <a:extLst>
                    <a:ext uri="{9D8B030D-6E8A-4147-A177-3AD203B41FA5}">
                      <a16:colId xmlns:a16="http://schemas.microsoft.com/office/drawing/2014/main" val="3273760410"/>
                    </a:ext>
                  </a:extLst>
                </a:gridCol>
                <a:gridCol w="1467748">
                  <a:extLst>
                    <a:ext uri="{9D8B030D-6E8A-4147-A177-3AD203B41FA5}">
                      <a16:colId xmlns:a16="http://schemas.microsoft.com/office/drawing/2014/main" val="2372595116"/>
                    </a:ext>
                  </a:extLst>
                </a:gridCol>
                <a:gridCol w="1467748">
                  <a:extLst>
                    <a:ext uri="{9D8B030D-6E8A-4147-A177-3AD203B41FA5}">
                      <a16:colId xmlns:a16="http://schemas.microsoft.com/office/drawing/2014/main" val="3245032678"/>
                    </a:ext>
                  </a:extLst>
                </a:gridCol>
                <a:gridCol w="577622">
                  <a:extLst>
                    <a:ext uri="{9D8B030D-6E8A-4147-A177-3AD203B41FA5}">
                      <a16:colId xmlns:a16="http://schemas.microsoft.com/office/drawing/2014/main" val="4079149487"/>
                    </a:ext>
                  </a:extLst>
                </a:gridCol>
                <a:gridCol w="198654">
                  <a:extLst>
                    <a:ext uri="{9D8B030D-6E8A-4147-A177-3AD203B41FA5}">
                      <a16:colId xmlns:a16="http://schemas.microsoft.com/office/drawing/2014/main" val="103699977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6418121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17060153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91359436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5918435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71001676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87689313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3186927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61831934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09705988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7561653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35948895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97463295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4774455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66526346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859246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26291018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2299781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817207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93611481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4200235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38195501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86942313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3826628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86938649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59582609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7832366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9357543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9772018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45550786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4008366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63370456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41969951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954552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888632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160122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91879071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0380811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52908672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72269504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7006529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80189678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00209909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9961248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53524766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96151667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741759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89269402"/>
                    </a:ext>
                  </a:extLst>
                </a:gridCol>
              </a:tblGrid>
              <a:tr h="330997">
                <a:tc rowSpan="2"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DD-2023-329 -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Diriyah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 II Management Contracting – Opera Block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1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063963"/>
                  </a:ext>
                </a:extLst>
              </a:tr>
              <a:tr h="194572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AUDIT PLAN - 2026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822527"/>
                  </a:ext>
                </a:extLst>
              </a:tr>
              <a:tr h="14739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Date: 01/May/2026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883628"/>
                  </a:ext>
                </a:extLst>
              </a:tr>
              <a:tr h="14739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Department / Discipline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</a:t>
                      </a:r>
                      <a:r>
                        <a:rPr lang="en-U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type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 Documents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4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 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803692"/>
                  </a:ext>
                </a:extLst>
              </a:tr>
              <a:tr h="147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21151"/>
                  </a:ext>
                </a:extLst>
              </a:tr>
              <a:tr h="147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9467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Marshad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Precast Factory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Assessment of Supplier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BV-BSW-105-0000-ECM-AUR-QL-000006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Sadus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KSA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64889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55486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M/s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Qanbar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Dywidag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Precast Concrete Co. Ltd.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Assessment of Supplier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Jubail (KSA)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87711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812512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UBCC Ready Mix Batching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Assessment of Supplier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BV-BSW-105-0000-ECM-AUR-QL-000008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Wadi Safar 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231089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00825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M/s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Techniproof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Audit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48447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50476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M/s Zamil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Assessment of Supplier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BV-BSW-105-0000-ECM-AUR-QL-000009</a:t>
                      </a:r>
                    </a:p>
                    <a:p>
                      <a:pPr algn="l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Dammam  KSA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34606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21918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l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334767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381043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60738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8617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1523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03769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91490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878682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6250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8821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4448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42268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SubContractor - 9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Assessment to Supplier</a:t>
                      </a: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18551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565764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91355"/>
                  </a:ext>
                </a:extLst>
              </a:tr>
              <a:tr h="14739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Legend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4855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91678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00245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Unplanned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57893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8DBC12B2-977F-47B0-9D80-96E5D4E69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14" y="596975"/>
            <a:ext cx="454061" cy="4285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8FDC84-694A-4575-B337-0C7E4976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300" y="622852"/>
            <a:ext cx="2057400" cy="39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139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B0E-8B98-0E2E-815C-7834B34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B39FE6AE-D031-7373-D64B-9826641DA2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86" y="18393"/>
            <a:ext cx="13715928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Internal Audit Plan (By Yearly)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433FD9B-7CE6-6327-131B-23D74AFE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62527"/>
              </p:ext>
            </p:extLst>
          </p:nvPr>
        </p:nvGraphicFramePr>
        <p:xfrm>
          <a:off x="260351" y="537823"/>
          <a:ext cx="13652467" cy="7532550"/>
        </p:xfrm>
        <a:graphic>
          <a:graphicData uri="http://schemas.openxmlformats.org/drawingml/2006/table">
            <a:tbl>
              <a:tblPr/>
              <a:tblGrid>
                <a:gridCol w="332690">
                  <a:extLst>
                    <a:ext uri="{9D8B030D-6E8A-4147-A177-3AD203B41FA5}">
                      <a16:colId xmlns:a16="http://schemas.microsoft.com/office/drawing/2014/main" val="3005132744"/>
                    </a:ext>
                  </a:extLst>
                </a:gridCol>
                <a:gridCol w="1115109">
                  <a:extLst>
                    <a:ext uri="{9D8B030D-6E8A-4147-A177-3AD203B41FA5}">
                      <a16:colId xmlns:a16="http://schemas.microsoft.com/office/drawing/2014/main" val="2592599258"/>
                    </a:ext>
                  </a:extLst>
                </a:gridCol>
                <a:gridCol w="1000485">
                  <a:extLst>
                    <a:ext uri="{9D8B030D-6E8A-4147-A177-3AD203B41FA5}">
                      <a16:colId xmlns:a16="http://schemas.microsoft.com/office/drawing/2014/main" val="3273760410"/>
                    </a:ext>
                  </a:extLst>
                </a:gridCol>
                <a:gridCol w="1467748">
                  <a:extLst>
                    <a:ext uri="{9D8B030D-6E8A-4147-A177-3AD203B41FA5}">
                      <a16:colId xmlns:a16="http://schemas.microsoft.com/office/drawing/2014/main" val="2372595116"/>
                    </a:ext>
                  </a:extLst>
                </a:gridCol>
                <a:gridCol w="1467748">
                  <a:extLst>
                    <a:ext uri="{9D8B030D-6E8A-4147-A177-3AD203B41FA5}">
                      <a16:colId xmlns:a16="http://schemas.microsoft.com/office/drawing/2014/main" val="3245032678"/>
                    </a:ext>
                  </a:extLst>
                </a:gridCol>
                <a:gridCol w="577622">
                  <a:extLst>
                    <a:ext uri="{9D8B030D-6E8A-4147-A177-3AD203B41FA5}">
                      <a16:colId xmlns:a16="http://schemas.microsoft.com/office/drawing/2014/main" val="4079149487"/>
                    </a:ext>
                  </a:extLst>
                </a:gridCol>
                <a:gridCol w="198654">
                  <a:extLst>
                    <a:ext uri="{9D8B030D-6E8A-4147-A177-3AD203B41FA5}">
                      <a16:colId xmlns:a16="http://schemas.microsoft.com/office/drawing/2014/main" val="103699977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6418121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17060153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91359436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5918435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71001676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87689313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3186927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61831934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09705988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7561653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35948895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97463295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4774455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665263464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859246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26291018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2299781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817207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93611481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4200235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38195501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86942313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38266281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86938649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59582609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27832366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93575437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97720189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45550786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4008366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063370456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241969951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9545527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888632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160122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91879071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0380811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52908672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72269504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170065290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80189678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4002099098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99612485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53524766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1961516672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667417593"/>
                    </a:ext>
                  </a:extLst>
                </a:gridCol>
                <a:gridCol w="159413">
                  <a:extLst>
                    <a:ext uri="{9D8B030D-6E8A-4147-A177-3AD203B41FA5}">
                      <a16:colId xmlns:a16="http://schemas.microsoft.com/office/drawing/2014/main" val="3789269402"/>
                    </a:ext>
                  </a:extLst>
                </a:gridCol>
              </a:tblGrid>
              <a:tr h="330997">
                <a:tc rowSpan="2"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DD-2023-329 -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Diriyah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 II Management Contracting – Opera Block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1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063963"/>
                  </a:ext>
                </a:extLst>
              </a:tr>
              <a:tr h="194572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INTERNAL AUDIT PLAN - 2026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822527"/>
                  </a:ext>
                </a:extLst>
              </a:tr>
              <a:tr h="14739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Date: 01/May/2026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9D9D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883628"/>
                  </a:ext>
                </a:extLst>
              </a:tr>
              <a:tr h="14739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 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Department / Discipline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Audit</a:t>
                      </a:r>
                      <a:r>
                        <a:rPr lang="en-U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type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 Documents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gridSpan="4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 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803692"/>
                  </a:ext>
                </a:extLst>
              </a:tr>
              <a:tr h="147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21151"/>
                  </a:ext>
                </a:extLst>
              </a:tr>
              <a:tr h="147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9467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ECM JV 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(Design, Procurement, Construction, Quality, Safety,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etc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Audit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Wadi Safar 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64889"/>
                  </a:ext>
                </a:extLst>
              </a:tr>
              <a:tr h="3439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55486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ECM JV 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(Design, Procurement, Construction, Quality, Safety,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etc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QA/QC Manager/ Engineer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Audit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Wadi Safar 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Diriyah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87711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812512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231089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00825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48447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50476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34606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21918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334767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381043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60738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8617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1523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03769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91490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878682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6250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88210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4448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42268"/>
                  </a:ext>
                </a:extLst>
              </a:tr>
              <a:tr h="147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185513"/>
                  </a:ext>
                </a:extLst>
              </a:tr>
              <a:tr h="2947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565764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91355"/>
                  </a:ext>
                </a:extLst>
              </a:tr>
              <a:tr h="14739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Legend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4855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91678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00245"/>
                  </a:ext>
                </a:extLst>
              </a:tr>
              <a:tr h="147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Unplanned Audit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57893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8DBC12B2-977F-47B0-9D80-96E5D4E69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14" y="596975"/>
            <a:ext cx="454061" cy="4285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8FDC84-694A-4575-B337-0C7E4976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300" y="622852"/>
            <a:ext cx="2057400" cy="39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567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F1FA-BC0C-603A-F41B-716A696B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7334B036-C177-16D1-FB24-DDDA04780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Resources Deployment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E53C8-A49C-3CC4-3825-E08D66CF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951" y="7294196"/>
            <a:ext cx="1447800" cy="671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A69AA-14A5-4782-2716-5204BF962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8" y="880475"/>
            <a:ext cx="13984652" cy="641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05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7B7D-0726-A109-B2C7-0E8E52B7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4886265-F2DE-AE94-E87D-5123CEFF0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 Monitoring Performance Metrics - FCR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1FB98-0B07-48A3-FB69-7A58F489CCC1}"/>
              </a:ext>
            </a:extLst>
          </p:cNvPr>
          <p:cNvSpPr txBox="1"/>
          <p:nvPr/>
        </p:nvSpPr>
        <p:spPr>
          <a:xfrm>
            <a:off x="565150" y="1371600"/>
            <a:ext cx="418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Field Change Requests (FCR) raised yet.</a:t>
            </a:r>
          </a:p>
        </p:txBody>
      </p:sp>
    </p:spTree>
    <p:extLst>
      <p:ext uri="{BB962C8B-B14F-4D97-AF65-F5344CB8AC3E}">
        <p14:creationId xmlns:p14="http://schemas.microsoft.com/office/powerpoint/2010/main" val="4286181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A091-73AB-0916-B1A6-244C16EE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1134B369-26E1-901F-91E7-74FEC091C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Area of Concerns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CD16B2-7501-DA12-9FE6-009DBC7F2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40200"/>
              </p:ext>
            </p:extLst>
          </p:nvPr>
        </p:nvGraphicFramePr>
        <p:xfrm>
          <a:off x="412750" y="990600"/>
          <a:ext cx="13258800" cy="6949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4775542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376354876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57286785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 No</a:t>
                      </a:r>
                    </a:p>
                  </a:txBody>
                  <a:tcPr anchor="ctr"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Concern</a:t>
                      </a:r>
                    </a:p>
                  </a:txBody>
                  <a:tcPr anchor="ctr">
                    <a:solidFill>
                      <a:srgbClr val="C172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Mitigation</a:t>
                      </a:r>
                    </a:p>
                  </a:txBody>
                  <a:tcPr anchor="ctr">
                    <a:solidFill>
                      <a:srgbClr val="C17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3705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Leakage of slurry above the wall must be controlled and prevented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41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Debris in construction joints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14232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Major non-compliance identified in the curved wall (Zone 01) concrete casting using Styrofoam formwork.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Dedicated MS for the repair has been submitted</a:t>
                      </a:r>
                      <a:br>
                        <a:rPr lang="en-US" dirty="0"/>
                      </a:br>
                      <a:r>
                        <a:rPr lang="en-US" dirty="0"/>
                        <a:t>(Based on test ECM JV coordinating Sika to proposed material for the repair works)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14685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is a delay in submitting third-party test reports. All test reports for the months of January and February shall be submitted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Pending Test Reports are submitted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7759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Expedite the post-pour inspection submission for all vertical elements under SF2 and SF3.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78591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CSC noted that the NCR remains open and overdue, and there is a delay in submitting the third-party report. The required testing was completed three weeks ago; however, the report and recommendations are still pending CSC review and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Under Progress</a:t>
                      </a:r>
                      <a:br>
                        <a:rPr lang="en-US" dirty="0"/>
                      </a:br>
                      <a:r>
                        <a:rPr lang="en-US" dirty="0"/>
                        <a:t>(Third Party Test Report Submitted)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6333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360088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494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9816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A588-8EDE-E929-2B3D-9025CAD2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0F03D67E-072F-CA91-7CEB-3CD244991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"/>
              </a:spcBef>
              <a:tabLst>
                <a:tab pos="1807845" algn="l"/>
                <a:tab pos="13702665" algn="l"/>
              </a:tabLst>
            </a:pPr>
            <a:r>
              <a:rPr lang="en-US" spc="-5" dirty="0">
                <a:solidFill>
                  <a:srgbClr val="C171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Any Other Business</a:t>
            </a:r>
            <a:r>
              <a:rPr spc="-10" dirty="0">
                <a:solidFill>
                  <a:srgbClr val="C17150"/>
                </a:solidFill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1D869-F632-D2DA-FB79-57E9B68C74E2}"/>
              </a:ext>
            </a:extLst>
          </p:cNvPr>
          <p:cNvSpPr txBox="1"/>
          <p:nvPr/>
        </p:nvSpPr>
        <p:spPr>
          <a:xfrm>
            <a:off x="565150" y="1066800"/>
            <a:ext cx="1280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Calibration records shall be submitted Aconex “For Information”.</a:t>
            </a:r>
          </a:p>
          <a:p>
            <a:endParaRPr lang="en-US" dirty="0"/>
          </a:p>
          <a:p>
            <a:r>
              <a:rPr lang="en-US" dirty="0"/>
              <a:t>2. Records of Training/ TBT shall be shared in Aconex “For Information”.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2141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4079855" cy="7920355"/>
          </a:xfrm>
          <a:custGeom>
            <a:avLst/>
            <a:gdLst/>
            <a:ahLst/>
            <a:cxnLst/>
            <a:rect l="l" t="t" r="r" b="b"/>
            <a:pathLst>
              <a:path w="14079855" h="7920355">
                <a:moveTo>
                  <a:pt x="14079537" y="0"/>
                </a:moveTo>
                <a:lnTo>
                  <a:pt x="0" y="0"/>
                </a:lnTo>
                <a:lnTo>
                  <a:pt x="0" y="7920037"/>
                </a:lnTo>
                <a:lnTo>
                  <a:pt x="14079537" y="7920037"/>
                </a:lnTo>
                <a:lnTo>
                  <a:pt x="14079537" y="0"/>
                </a:lnTo>
                <a:close/>
              </a:path>
            </a:pathLst>
          </a:custGeom>
          <a:solidFill>
            <a:srgbClr val="5414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744743" y="45021"/>
            <a:ext cx="7335520" cy="7875270"/>
            <a:chOff x="6744743" y="45021"/>
            <a:chExt cx="7335520" cy="78752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4743" y="45021"/>
              <a:ext cx="7335492" cy="78752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14276" y="7530350"/>
              <a:ext cx="1652384" cy="30890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5551" y="1813710"/>
            <a:ext cx="2163850" cy="21589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34564" y="5059281"/>
            <a:ext cx="2364740" cy="676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u="none" spc="5" dirty="0">
                <a:solidFill>
                  <a:srgbClr val="C17150"/>
                </a:solidFill>
                <a:latin typeface="Calibri"/>
                <a:cs typeface="Calibri"/>
              </a:rPr>
              <a:t>Thank</a:t>
            </a:r>
            <a:r>
              <a:rPr sz="4250" u="none" spc="-95" dirty="0">
                <a:solidFill>
                  <a:srgbClr val="C17150"/>
                </a:solidFill>
                <a:latin typeface="Calibri"/>
                <a:cs typeface="Calibri"/>
              </a:rPr>
              <a:t> </a:t>
            </a:r>
            <a:r>
              <a:rPr sz="4250" u="none" spc="10" dirty="0">
                <a:solidFill>
                  <a:srgbClr val="C17150"/>
                </a:solidFill>
                <a:latin typeface="Calibri"/>
                <a:cs typeface="Calibri"/>
              </a:rPr>
              <a:t>you</a:t>
            </a:r>
            <a:endParaRPr sz="42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38629" y="4108019"/>
            <a:ext cx="3157486" cy="11879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41519</TotalTime>
  <Words>6689</Words>
  <Application>Microsoft Office PowerPoint</Application>
  <PresentationFormat>Custom</PresentationFormat>
  <Paragraphs>5076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ADLaM Display</vt:lpstr>
      <vt:lpstr>Aptos</vt:lpstr>
      <vt:lpstr>Arial</vt:lpstr>
      <vt:lpstr>Arial Black</vt:lpstr>
      <vt:lpstr>Calibri</vt:lpstr>
      <vt:lpstr>Rockwell</vt:lpstr>
      <vt:lpstr>Wingdings</vt:lpstr>
      <vt:lpstr>Office Theme</vt:lpstr>
      <vt:lpstr>PowerPoint Presentation</vt:lpstr>
      <vt:lpstr>Index      </vt:lpstr>
      <vt:lpstr>QMS Documentation Status </vt:lpstr>
      <vt:lpstr>QMS Documentation Status </vt:lpstr>
      <vt:lpstr>Construction Submittals – Method Statement </vt:lpstr>
      <vt:lpstr>Construction Submittals – Inspection Test Plan </vt:lpstr>
      <vt:lpstr>Non-Conformance Reports </vt:lpstr>
      <vt:lpstr>Site Observation Reports </vt:lpstr>
      <vt:lpstr>Construction Submittals – NCR (Internal) </vt:lpstr>
      <vt:lpstr>Quality Monitoring Performance Metrics – Test Reports </vt:lpstr>
      <vt:lpstr>Quality Monitoring Performance Metrics – Prequalification </vt:lpstr>
      <vt:lpstr>Construction Submittals – Material Approval Request </vt:lpstr>
      <vt:lpstr>Quality Monitoring Performance Metrics – Material Sample Approval </vt:lpstr>
      <vt:lpstr>Quality Monitoring Performance Metrics - MIR </vt:lpstr>
      <vt:lpstr>Quality Monitoring Performance Metrics - RFI </vt:lpstr>
      <vt:lpstr>Construction Submittals – Shop Drawings </vt:lpstr>
      <vt:lpstr>Quality Monitoring Performance Metrics - WIR </vt:lpstr>
      <vt:lpstr>Training Induction and Compliance </vt:lpstr>
      <vt:lpstr>Training Induction and Compliance </vt:lpstr>
      <vt:lpstr>Annual Audit Plan (Supplier &amp; Sub-Contractor)  </vt:lpstr>
      <vt:lpstr>Annual Audit Plan (Supplier &amp; Sub-Contractor) </vt:lpstr>
      <vt:lpstr>Internal Audit Plan (By Yearly) </vt:lpstr>
      <vt:lpstr>Quality Resources Deployment </vt:lpstr>
      <vt:lpstr>Quality Monitoring Performance Metrics - FCR </vt:lpstr>
      <vt:lpstr>Area of Concerns </vt:lpstr>
      <vt:lpstr>Any Other Business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</dc:creator>
  <cp:lastModifiedBy>Haroon Saeed</cp:lastModifiedBy>
  <cp:revision>273</cp:revision>
  <dcterms:created xsi:type="dcterms:W3CDTF">2025-06-26T05:19:32Z</dcterms:created>
  <dcterms:modified xsi:type="dcterms:W3CDTF">2026-10-01T04:56:54Z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2025-05-21T00:00:00Z</vt:filetime>
  </property>
  <property fmtid="{D5CDD505-2E9C-101B-9397-08002B2CF9AE}" pid="3" name="Creator">
    <vt:lpwstr>Acrobat PDFMaker 21 for Word</vt:lpwstr>
  </property>
  <property fmtid="{D5CDD505-2E9C-101B-9397-08002B2CF9AE}" pid="4" name="LastSaved">
    <vt:filetime>2025-06-26T00:00:00Z</vt:filetime>
  </property>
</Properties>
</file>